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2" r:id="rId6"/>
    <p:sldId id="259" r:id="rId7"/>
    <p:sldId id="264" r:id="rId8"/>
    <p:sldId id="265" r:id="rId9"/>
    <p:sldId id="268" r:id="rId10"/>
    <p:sldId id="261" r:id="rId11"/>
    <p:sldId id="269" r:id="rId12"/>
    <p:sldId id="266" r:id="rId13"/>
    <p:sldId id="270" r:id="rId14"/>
    <p:sldId id="271" r:id="rId15"/>
    <p:sldId id="267" r:id="rId16"/>
    <p:sldId id="272" r:id="rId17"/>
    <p:sldId id="273" r:id="rId18"/>
    <p:sldId id="274" r:id="rId19"/>
    <p:sldId id="276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84CC078-22E8-4584-85ED-2BECBF37CB60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FC8CDFD9-F894-4B80-9336-2FC1FC6164D3}">
      <dgm:prSet phldrT="[Text]" custT="1"/>
      <dgm:spPr/>
      <dgm:t>
        <a:bodyPr/>
        <a:lstStyle/>
        <a:p>
          <a:r>
            <a:rPr lang="en-GB" sz="4400" dirty="0"/>
            <a:t>Stage 1</a:t>
          </a:r>
        </a:p>
      </dgm:t>
    </dgm:pt>
    <dgm:pt modelId="{C63B4A59-59DC-4EDD-A4CC-3AE66FF9F4C9}" type="parTrans" cxnId="{E8AA16AA-BAA2-4478-B8D3-BC93977F3604}">
      <dgm:prSet/>
      <dgm:spPr/>
      <dgm:t>
        <a:bodyPr/>
        <a:lstStyle/>
        <a:p>
          <a:endParaRPr lang="en-GB"/>
        </a:p>
      </dgm:t>
    </dgm:pt>
    <dgm:pt modelId="{0023CDD9-0318-4EB4-BC31-C19191307312}" type="sibTrans" cxnId="{E8AA16AA-BAA2-4478-B8D3-BC93977F3604}">
      <dgm:prSet/>
      <dgm:spPr/>
      <dgm:t>
        <a:bodyPr/>
        <a:lstStyle/>
        <a:p>
          <a:endParaRPr lang="en-GB"/>
        </a:p>
      </dgm:t>
    </dgm:pt>
    <dgm:pt modelId="{52AA5E8A-2192-411F-9235-99297810B4F6}">
      <dgm:prSet phldrT="[Text]" custT="1"/>
      <dgm:spPr/>
      <dgm:t>
        <a:bodyPr/>
        <a:lstStyle/>
        <a:p>
          <a:r>
            <a:rPr lang="en-GB" sz="4400" dirty="0"/>
            <a:t>Stage 2</a:t>
          </a:r>
        </a:p>
      </dgm:t>
    </dgm:pt>
    <dgm:pt modelId="{CDC0A0FC-C576-4114-ABBE-D9B27DE9A1F7}" type="parTrans" cxnId="{0433A66A-2A5C-4660-BA10-754700081F5E}">
      <dgm:prSet/>
      <dgm:spPr/>
      <dgm:t>
        <a:bodyPr/>
        <a:lstStyle/>
        <a:p>
          <a:endParaRPr lang="en-GB"/>
        </a:p>
      </dgm:t>
    </dgm:pt>
    <dgm:pt modelId="{A22F84B3-38B3-4AD1-8246-2CDAE8E51106}" type="sibTrans" cxnId="{0433A66A-2A5C-4660-BA10-754700081F5E}">
      <dgm:prSet/>
      <dgm:spPr/>
      <dgm:t>
        <a:bodyPr/>
        <a:lstStyle/>
        <a:p>
          <a:endParaRPr lang="en-GB"/>
        </a:p>
      </dgm:t>
    </dgm:pt>
    <dgm:pt modelId="{DBFA258F-1BA6-49D5-8919-DAEC2A627587}">
      <dgm:prSet phldrT="[Text]" custT="1"/>
      <dgm:spPr/>
      <dgm:t>
        <a:bodyPr/>
        <a:lstStyle/>
        <a:p>
          <a:r>
            <a:rPr lang="en-GB" sz="4400" dirty="0"/>
            <a:t>Stage N</a:t>
          </a:r>
        </a:p>
      </dgm:t>
    </dgm:pt>
    <dgm:pt modelId="{AC4A5DE0-D8A8-49DD-8BE1-5FE6468D45C9}" type="parTrans" cxnId="{BB2E61DA-A2FC-41E2-89D0-080165DDDAA2}">
      <dgm:prSet/>
      <dgm:spPr/>
      <dgm:t>
        <a:bodyPr/>
        <a:lstStyle/>
        <a:p>
          <a:endParaRPr lang="en-GB"/>
        </a:p>
      </dgm:t>
    </dgm:pt>
    <dgm:pt modelId="{DE8D5757-6033-4439-9590-81D454908BF4}" type="sibTrans" cxnId="{BB2E61DA-A2FC-41E2-89D0-080165DDDAA2}">
      <dgm:prSet/>
      <dgm:spPr/>
      <dgm:t>
        <a:bodyPr/>
        <a:lstStyle/>
        <a:p>
          <a:endParaRPr lang="en-GB"/>
        </a:p>
      </dgm:t>
    </dgm:pt>
    <dgm:pt modelId="{96F8CC57-AB66-4BD7-9086-2040A561A227}" type="pres">
      <dgm:prSet presAssocID="{784CC078-22E8-4584-85ED-2BECBF37CB60}" presName="Name0" presStyleCnt="0">
        <dgm:presLayoutVars>
          <dgm:dir/>
          <dgm:animLvl val="lvl"/>
          <dgm:resizeHandles val="exact"/>
        </dgm:presLayoutVars>
      </dgm:prSet>
      <dgm:spPr/>
    </dgm:pt>
    <dgm:pt modelId="{CA7AC187-78CD-4E5C-A93D-71221032DCD4}" type="pres">
      <dgm:prSet presAssocID="{FC8CDFD9-F894-4B80-9336-2FC1FC6164D3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7CE36A66-C7C6-49EA-8217-22AD413015FA}" type="pres">
      <dgm:prSet presAssocID="{0023CDD9-0318-4EB4-BC31-C19191307312}" presName="parTxOnlySpace" presStyleCnt="0"/>
      <dgm:spPr/>
    </dgm:pt>
    <dgm:pt modelId="{A7D9ED26-AAC9-4C10-9527-1F211C762E89}" type="pres">
      <dgm:prSet presAssocID="{52AA5E8A-2192-411F-9235-99297810B4F6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55A9141D-F9F6-4C3E-943A-9CF0AAD18C94}" type="pres">
      <dgm:prSet presAssocID="{A22F84B3-38B3-4AD1-8246-2CDAE8E51106}" presName="parTxOnlySpace" presStyleCnt="0"/>
      <dgm:spPr/>
    </dgm:pt>
    <dgm:pt modelId="{D9BF121D-4C64-47E2-BDE7-0372B7C48C2D}" type="pres">
      <dgm:prSet presAssocID="{DBFA258F-1BA6-49D5-8919-DAEC2A627587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0433A66A-2A5C-4660-BA10-754700081F5E}" srcId="{784CC078-22E8-4584-85ED-2BECBF37CB60}" destId="{52AA5E8A-2192-411F-9235-99297810B4F6}" srcOrd="1" destOrd="0" parTransId="{CDC0A0FC-C576-4114-ABBE-D9B27DE9A1F7}" sibTransId="{A22F84B3-38B3-4AD1-8246-2CDAE8E51106}"/>
    <dgm:cxn modelId="{EB1F08A2-308D-459B-83FD-F8CE07E97E0D}" type="presOf" srcId="{FC8CDFD9-F894-4B80-9336-2FC1FC6164D3}" destId="{CA7AC187-78CD-4E5C-A93D-71221032DCD4}" srcOrd="0" destOrd="0" presId="urn:microsoft.com/office/officeart/2005/8/layout/chevron1"/>
    <dgm:cxn modelId="{E8AA16AA-BAA2-4478-B8D3-BC93977F3604}" srcId="{784CC078-22E8-4584-85ED-2BECBF37CB60}" destId="{FC8CDFD9-F894-4B80-9336-2FC1FC6164D3}" srcOrd="0" destOrd="0" parTransId="{C63B4A59-59DC-4EDD-A4CC-3AE66FF9F4C9}" sibTransId="{0023CDD9-0318-4EB4-BC31-C19191307312}"/>
    <dgm:cxn modelId="{1C7819B6-2D4B-4B47-9310-309FC16694F6}" type="presOf" srcId="{DBFA258F-1BA6-49D5-8919-DAEC2A627587}" destId="{D9BF121D-4C64-47E2-BDE7-0372B7C48C2D}" srcOrd="0" destOrd="0" presId="urn:microsoft.com/office/officeart/2005/8/layout/chevron1"/>
    <dgm:cxn modelId="{A2B5DACC-9803-42DF-BC36-E01301BFCDFB}" type="presOf" srcId="{52AA5E8A-2192-411F-9235-99297810B4F6}" destId="{A7D9ED26-AAC9-4C10-9527-1F211C762E89}" srcOrd="0" destOrd="0" presId="urn:microsoft.com/office/officeart/2005/8/layout/chevron1"/>
    <dgm:cxn modelId="{BB2E61DA-A2FC-41E2-89D0-080165DDDAA2}" srcId="{784CC078-22E8-4584-85ED-2BECBF37CB60}" destId="{DBFA258F-1BA6-49D5-8919-DAEC2A627587}" srcOrd="2" destOrd="0" parTransId="{AC4A5DE0-D8A8-49DD-8BE1-5FE6468D45C9}" sibTransId="{DE8D5757-6033-4439-9590-81D454908BF4}"/>
    <dgm:cxn modelId="{23D974F4-0C49-4D0C-ACC4-6EB02741D998}" type="presOf" srcId="{784CC078-22E8-4584-85ED-2BECBF37CB60}" destId="{96F8CC57-AB66-4BD7-9086-2040A561A227}" srcOrd="0" destOrd="0" presId="urn:microsoft.com/office/officeart/2005/8/layout/chevron1"/>
    <dgm:cxn modelId="{8D9AF312-1C68-4C21-A45B-657C59EB217E}" type="presParOf" srcId="{96F8CC57-AB66-4BD7-9086-2040A561A227}" destId="{CA7AC187-78CD-4E5C-A93D-71221032DCD4}" srcOrd="0" destOrd="0" presId="urn:microsoft.com/office/officeart/2005/8/layout/chevron1"/>
    <dgm:cxn modelId="{125DB83C-EC81-4443-A604-A200D9CD78CA}" type="presParOf" srcId="{96F8CC57-AB66-4BD7-9086-2040A561A227}" destId="{7CE36A66-C7C6-49EA-8217-22AD413015FA}" srcOrd="1" destOrd="0" presId="urn:microsoft.com/office/officeart/2005/8/layout/chevron1"/>
    <dgm:cxn modelId="{49357A36-4FAD-4815-8DC1-CB9332D75C46}" type="presParOf" srcId="{96F8CC57-AB66-4BD7-9086-2040A561A227}" destId="{A7D9ED26-AAC9-4C10-9527-1F211C762E89}" srcOrd="2" destOrd="0" presId="urn:microsoft.com/office/officeart/2005/8/layout/chevron1"/>
    <dgm:cxn modelId="{A6DBB089-4EE8-4599-909E-2935BFE5F2FA}" type="presParOf" srcId="{96F8CC57-AB66-4BD7-9086-2040A561A227}" destId="{55A9141D-F9F6-4C3E-943A-9CF0AAD18C94}" srcOrd="3" destOrd="0" presId="urn:microsoft.com/office/officeart/2005/8/layout/chevron1"/>
    <dgm:cxn modelId="{3CEBE46B-9295-44AF-9AF3-46C6B9A80B61}" type="presParOf" srcId="{96F8CC57-AB66-4BD7-9086-2040A561A227}" destId="{D9BF121D-4C64-47E2-BDE7-0372B7C48C2D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7AC187-78CD-4E5C-A93D-71221032DCD4}">
      <dsp:nvSpPr>
        <dsp:cNvPr id="0" name=""/>
        <dsp:cNvSpPr/>
      </dsp:nvSpPr>
      <dsp:spPr>
        <a:xfrm>
          <a:off x="3080" y="1424994"/>
          <a:ext cx="3753370" cy="150134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6022" tIns="58674" rIns="58674" bIns="58674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400" kern="1200" dirty="0"/>
            <a:t>Stage 1</a:t>
          </a:r>
        </a:p>
      </dsp:txBody>
      <dsp:txXfrm>
        <a:off x="753754" y="1424994"/>
        <a:ext cx="2252022" cy="1501348"/>
      </dsp:txXfrm>
    </dsp:sp>
    <dsp:sp modelId="{A7D9ED26-AAC9-4C10-9527-1F211C762E89}">
      <dsp:nvSpPr>
        <dsp:cNvPr id="0" name=""/>
        <dsp:cNvSpPr/>
      </dsp:nvSpPr>
      <dsp:spPr>
        <a:xfrm>
          <a:off x="3381114" y="1424994"/>
          <a:ext cx="3753370" cy="150134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6022" tIns="58674" rIns="58674" bIns="58674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400" kern="1200" dirty="0"/>
            <a:t>Stage 2</a:t>
          </a:r>
        </a:p>
      </dsp:txBody>
      <dsp:txXfrm>
        <a:off x="4131788" y="1424994"/>
        <a:ext cx="2252022" cy="1501348"/>
      </dsp:txXfrm>
    </dsp:sp>
    <dsp:sp modelId="{D9BF121D-4C64-47E2-BDE7-0372B7C48C2D}">
      <dsp:nvSpPr>
        <dsp:cNvPr id="0" name=""/>
        <dsp:cNvSpPr/>
      </dsp:nvSpPr>
      <dsp:spPr>
        <a:xfrm>
          <a:off x="6759148" y="1424994"/>
          <a:ext cx="3753370" cy="150134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6022" tIns="58674" rIns="58674" bIns="58674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400" kern="1200" dirty="0"/>
            <a:t>Stage N</a:t>
          </a:r>
        </a:p>
      </dsp:txBody>
      <dsp:txXfrm>
        <a:off x="7509822" y="1424994"/>
        <a:ext cx="2252022" cy="15013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5BFA5-01FC-9313-3FC4-535DDC037D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93313B-4527-9306-3B8F-3C7F645ED8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669DD0-C347-6485-F5EF-414FECE88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2E97A-A9D5-40C5-8A31-B4E389D716D9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04B923-470B-FFD5-25C9-A9F674802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0F38F-CE81-4061-8CB9-BC75EB334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91151-853A-418D-AD9D-62E3C2FB0D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3197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8B32B-D659-76D9-DD39-68C51B632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CF77F-B777-5557-F65A-A7A7C7528C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770A5-B1DA-2354-43A9-CD70CFA93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2E97A-A9D5-40C5-8A31-B4E389D716D9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9DCE3-0068-7AB6-6950-10BC93A48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419A7-D754-FBC7-D496-E21CCEBCD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91151-853A-418D-AD9D-62E3C2FB0D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0046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0C2F7-E243-921D-47E2-5BF6672D6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A80E59-2CF8-932A-CCBB-8B2B5EAC2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8B7B8-E75D-AF82-C819-3CFC2571A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2E97A-A9D5-40C5-8A31-B4E389D716D9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B9F0D-2BA6-77FD-958F-C7071FA02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BAF15-2EEE-281D-49BC-47ECD1470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91151-853A-418D-AD9D-62E3C2FB0D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7068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C79A0-5265-FA22-07C7-B06A846DD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C09F3-7AD8-DC94-A65F-8C1D9EA762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465A66-52AE-3616-D4FC-DC5137A6BB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AF4D6F-30B6-92DB-BE97-34F6D8894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2E97A-A9D5-40C5-8A31-B4E389D716D9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9C8CAF-2D06-0D79-0CE3-725D6B624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EDF7EA-AC36-8FC1-D772-E4155EB67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91151-853A-418D-AD9D-62E3C2FB0D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8347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65275-3AA6-3509-A7C4-4F9AFD2FA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B7E321-F513-06D7-D2E2-71194D5801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E1046B-87C4-5564-162C-C10F3F70EC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AE447D-38F7-991A-408A-8BE99D2002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535200-F85E-ACC5-2D4E-3EAD6DA70C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58C849-4AA4-9026-5992-4F6C98A37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2E97A-A9D5-40C5-8A31-B4E389D716D9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05377D-7A47-24D2-5619-2946E5EF3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D8CDF5-F4C0-94E0-4168-C2EF59E9A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91151-853A-418D-AD9D-62E3C2FB0D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3907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415E8-2D89-E778-F98B-2FF259634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3E08BC-FA81-80FB-8098-EBC3A6150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2E97A-A9D5-40C5-8A31-B4E389D716D9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88AD84-0584-E5B8-3D1C-6EECE879F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E0E661-8C96-6B00-7331-14574AD1D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91151-853A-418D-AD9D-62E3C2FB0D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9676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74330C-17B9-C912-C900-19F8F2688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2E97A-A9D5-40C5-8A31-B4E389D716D9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20E636-BE99-6AD8-E58D-09471B980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B9FB3F-CFFC-9D74-7BFB-857BC1364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91151-853A-418D-AD9D-62E3C2FB0D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2500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EAEEE-E5E7-AF0A-5DA1-2CC26C0C3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34B9B-474D-F0E4-FA17-6C6398025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72F1F3-0501-6D8D-07CD-7FB86859A6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20F36F-D9B3-CEDC-C691-63D5EB07E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2E97A-A9D5-40C5-8A31-B4E389D716D9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85D9FD-62E2-F13A-2967-F0C603969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0FA8A6-314A-879F-3BA1-4729A799F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91151-853A-418D-AD9D-62E3C2FB0D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5655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3F1FC-B0DC-51E2-F0C6-3DAFFE001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C87224-7EB1-0F96-FBF6-12CFBC69F9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FAE282-6CA2-AADA-6211-09E969F221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A20FDC-FA12-507F-9117-F64A12854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2E97A-A9D5-40C5-8A31-B4E389D716D9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49A846-B10D-7A66-225D-9CF1F1ED8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82EE43-12E8-CBC6-ECA5-66955F14E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91151-853A-418D-AD9D-62E3C2FB0D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145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BFAC7-ED2E-CFE3-8D46-66D09ABC8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A0CEF-7B58-E1C8-8762-5EDAFD485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4D5F59-0C12-5D2A-4301-8887F13E1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2E97A-A9D5-40C5-8A31-B4E389D716D9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50CDF-E891-BA06-62DF-FC0BFBFE4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D8385-817F-FEC4-420D-8493B5CF4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91151-853A-418D-AD9D-62E3C2FB0D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7940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69FD8B-C4C8-7D2C-AD67-588E90C00F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5B4E70-5EBA-944D-DE15-680D9841D4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50E3C4-9554-1A39-0F81-BADE4D82F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2E97A-A9D5-40C5-8A31-B4E389D716D9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318F8C-3B69-9917-2F35-77CF42BA0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EDF40-5850-C8D7-1B9B-060BD5F66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91151-853A-418D-AD9D-62E3C2FB0D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6037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B8F6AE-5764-1537-1B2F-62F27699F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69135-EA40-1170-BF7F-85D5303DE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DAF4B-2B96-26BB-1D6F-8D9DB332D4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A2E97A-A9D5-40C5-8A31-B4E389D716D9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B8A02-11A1-7934-FF25-869139559B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913835-9795-A909-FF58-BA6E907920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C91151-853A-418D-AD9D-62E3C2FB0D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2571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mongo.vkutsev.xyz/posts/second%20-exercise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33B17-9355-1296-FF71-A5B2E198D4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MongoDB Queries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29B4C3-1465-C5CC-B938-188003BFF5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+ Indexes and Aggregation</a:t>
            </a:r>
          </a:p>
          <a:p>
            <a:r>
              <a:rPr lang="en-GB" dirty="0"/>
              <a:t>+MongoDB Compass</a:t>
            </a:r>
          </a:p>
        </p:txBody>
      </p:sp>
    </p:spTree>
    <p:extLst>
      <p:ext uri="{BB962C8B-B14F-4D97-AF65-F5344CB8AC3E}">
        <p14:creationId xmlns:p14="http://schemas.microsoft.com/office/powerpoint/2010/main" val="3360543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78D21-C21B-11D0-8C93-1EC41DC29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Queries with $Operators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BF9A1-3C31-A71E-6142-7601DEACB6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Comparison operators: </a:t>
            </a:r>
            <a:r>
              <a:rPr lang="en-GB" b="1" dirty="0">
                <a:latin typeface="Consolas" panose="020B0609020204030204" pitchFamily="49" charset="0"/>
              </a:rPr>
              <a:t>$</a:t>
            </a:r>
            <a:r>
              <a:rPr lang="en-GB" b="1" dirty="0" err="1">
                <a:latin typeface="Consolas" panose="020B0609020204030204" pitchFamily="49" charset="0"/>
              </a:rPr>
              <a:t>gt</a:t>
            </a:r>
            <a:r>
              <a:rPr lang="en-GB" b="1" dirty="0">
                <a:latin typeface="Consolas" panose="020B0609020204030204" pitchFamily="49" charset="0"/>
              </a:rPr>
              <a:t>, $</a:t>
            </a:r>
            <a:r>
              <a:rPr lang="en-GB" b="1" dirty="0" err="1">
                <a:latin typeface="Consolas" panose="020B0609020204030204" pitchFamily="49" charset="0"/>
              </a:rPr>
              <a:t>lt</a:t>
            </a:r>
            <a:r>
              <a:rPr lang="en-GB" b="1" dirty="0">
                <a:latin typeface="Consolas" panose="020B0609020204030204" pitchFamily="49" charset="0"/>
              </a:rPr>
              <a:t>, $</a:t>
            </a:r>
            <a:r>
              <a:rPr lang="en-GB" b="1" dirty="0" err="1">
                <a:latin typeface="Consolas" panose="020B0609020204030204" pitchFamily="49" charset="0"/>
              </a:rPr>
              <a:t>gte</a:t>
            </a:r>
            <a:r>
              <a:rPr lang="en-GB" b="1" dirty="0">
                <a:latin typeface="Consolas" panose="020B0609020204030204" pitchFamily="49" charset="0"/>
              </a:rPr>
              <a:t>, $</a:t>
            </a:r>
            <a:r>
              <a:rPr lang="en-GB" b="1" dirty="0" err="1">
                <a:latin typeface="Consolas" panose="020B0609020204030204" pitchFamily="49" charset="0"/>
              </a:rPr>
              <a:t>lte</a:t>
            </a:r>
            <a:r>
              <a:rPr lang="en-GB" b="1" dirty="0">
                <a:latin typeface="Consolas" panose="020B0609020204030204" pitchFamily="49" charset="0"/>
              </a:rPr>
              <a:t>, $</a:t>
            </a:r>
            <a:r>
              <a:rPr lang="en-GB" b="1" dirty="0" err="1">
                <a:latin typeface="Consolas" panose="020B0609020204030204" pitchFamily="49" charset="0"/>
              </a:rPr>
              <a:t>eq</a:t>
            </a:r>
            <a:r>
              <a:rPr lang="en-GB" b="1" dirty="0">
                <a:latin typeface="Consolas" panose="020B0609020204030204" pitchFamily="49" charset="0"/>
              </a:rPr>
              <a:t>, $ne</a:t>
            </a:r>
          </a:p>
          <a:p>
            <a:r>
              <a:rPr lang="en-GB" dirty="0"/>
              <a:t>Logical operators: </a:t>
            </a:r>
            <a:r>
              <a:rPr lang="en-GB" b="1" dirty="0">
                <a:latin typeface="Consolas" panose="020B0609020204030204" pitchFamily="49" charset="0"/>
              </a:rPr>
              <a:t>$and, $or, $not</a:t>
            </a:r>
          </a:p>
          <a:p>
            <a:r>
              <a:rPr lang="en-GB" dirty="0"/>
              <a:t>Array operators: </a:t>
            </a:r>
            <a:r>
              <a:rPr lang="en-GB" b="1" dirty="0">
                <a:latin typeface="Consolas" panose="020B0609020204030204" pitchFamily="49" charset="0"/>
              </a:rPr>
              <a:t>$in, $all, $size</a:t>
            </a:r>
          </a:p>
        </p:txBody>
      </p:sp>
    </p:spTree>
    <p:extLst>
      <p:ext uri="{BB962C8B-B14F-4D97-AF65-F5344CB8AC3E}">
        <p14:creationId xmlns:p14="http://schemas.microsoft.com/office/powerpoint/2010/main" val="2146310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F9313-BB72-2B17-E0AA-246374C1F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Comparison operators: </a:t>
            </a:r>
            <a:br>
              <a:rPr lang="en-GB" dirty="0"/>
            </a:br>
            <a:r>
              <a:rPr lang="en-GB" b="1" dirty="0">
                <a:latin typeface="Consolas" panose="020B0609020204030204" pitchFamily="49" charset="0"/>
              </a:rPr>
              <a:t>$</a:t>
            </a:r>
            <a:r>
              <a:rPr lang="en-GB" b="1" dirty="0" err="1">
                <a:latin typeface="Consolas" panose="020B0609020204030204" pitchFamily="49" charset="0"/>
              </a:rPr>
              <a:t>gt</a:t>
            </a:r>
            <a:r>
              <a:rPr lang="en-GB" b="1" dirty="0">
                <a:latin typeface="Consolas" panose="020B0609020204030204" pitchFamily="49" charset="0"/>
              </a:rPr>
              <a:t>, $</a:t>
            </a:r>
            <a:r>
              <a:rPr lang="en-GB" b="1" dirty="0" err="1">
                <a:latin typeface="Consolas" panose="020B0609020204030204" pitchFamily="49" charset="0"/>
              </a:rPr>
              <a:t>lt</a:t>
            </a:r>
            <a:r>
              <a:rPr lang="en-GB" b="1" dirty="0">
                <a:latin typeface="Consolas" panose="020B0609020204030204" pitchFamily="49" charset="0"/>
              </a:rPr>
              <a:t>, $</a:t>
            </a:r>
            <a:r>
              <a:rPr lang="en-GB" b="1" dirty="0" err="1">
                <a:latin typeface="Consolas" panose="020B0609020204030204" pitchFamily="49" charset="0"/>
              </a:rPr>
              <a:t>gte</a:t>
            </a:r>
            <a:r>
              <a:rPr lang="en-GB" b="1" dirty="0">
                <a:latin typeface="Consolas" panose="020B0609020204030204" pitchFamily="49" charset="0"/>
              </a:rPr>
              <a:t>, $</a:t>
            </a:r>
            <a:r>
              <a:rPr lang="en-GB" b="1" dirty="0" err="1">
                <a:latin typeface="Consolas" panose="020B0609020204030204" pitchFamily="49" charset="0"/>
              </a:rPr>
              <a:t>lte</a:t>
            </a:r>
            <a:r>
              <a:rPr lang="en-GB" b="1" dirty="0">
                <a:latin typeface="Consolas" panose="020B0609020204030204" pitchFamily="49" charset="0"/>
              </a:rPr>
              <a:t>, $</a:t>
            </a:r>
            <a:r>
              <a:rPr lang="en-GB" b="1" dirty="0" err="1">
                <a:latin typeface="Consolas" panose="020B0609020204030204" pitchFamily="49" charset="0"/>
              </a:rPr>
              <a:t>eq</a:t>
            </a:r>
            <a:r>
              <a:rPr lang="en-GB" b="1" dirty="0">
                <a:latin typeface="Consolas" panose="020B0609020204030204" pitchFamily="49" charset="0"/>
              </a:rPr>
              <a:t>, $ne</a:t>
            </a:r>
            <a:br>
              <a:rPr lang="en-GB" b="1" dirty="0">
                <a:latin typeface="Consolas" panose="020B0609020204030204" pitchFamily="49" charset="0"/>
              </a:rPr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91DB0-1035-F388-372A-11AF20CAE4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Syntax: </a:t>
            </a:r>
          </a:p>
          <a:p>
            <a:pPr marL="0" indent="0">
              <a:buNone/>
            </a:pPr>
            <a:r>
              <a:rPr lang="en-GB" b="1" dirty="0">
                <a:latin typeface="Consolas" panose="020B0609020204030204" pitchFamily="49" charset="0"/>
              </a:rPr>
              <a:t>{ field: { $</a:t>
            </a:r>
            <a:r>
              <a:rPr lang="en-GB" b="1" dirty="0" err="1">
                <a:latin typeface="Consolas" panose="020B0609020204030204" pitchFamily="49" charset="0"/>
              </a:rPr>
              <a:t>gt</a:t>
            </a:r>
            <a:r>
              <a:rPr lang="en-GB" b="1" dirty="0">
                <a:latin typeface="Consolas" panose="020B0609020204030204" pitchFamily="49" charset="0"/>
              </a:rPr>
              <a:t>: value } }</a:t>
            </a:r>
          </a:p>
          <a:p>
            <a:pPr marL="0" indent="0">
              <a:buNone/>
            </a:pPr>
            <a:endParaRPr lang="en-GB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dirty="0"/>
              <a:t>Examples: </a:t>
            </a:r>
          </a:p>
          <a:p>
            <a:pPr marL="0" indent="0">
              <a:buNone/>
            </a:pPr>
            <a:r>
              <a:rPr lang="en-GB" b="1" dirty="0">
                <a:latin typeface="Consolas" panose="020B0609020204030204" pitchFamily="49" charset="0"/>
              </a:rPr>
              <a:t>{ age: { $</a:t>
            </a:r>
            <a:r>
              <a:rPr lang="en-GB" b="1" dirty="0" err="1">
                <a:latin typeface="Consolas" panose="020B0609020204030204" pitchFamily="49" charset="0"/>
              </a:rPr>
              <a:t>gt</a:t>
            </a:r>
            <a:r>
              <a:rPr lang="en-GB" b="1" dirty="0">
                <a:latin typeface="Consolas" panose="020B0609020204030204" pitchFamily="49" charset="0"/>
              </a:rPr>
              <a:t>: 25}} //age &gt; 25</a:t>
            </a:r>
          </a:p>
          <a:p>
            <a:pPr marL="0" indent="0">
              <a:buNone/>
            </a:pPr>
            <a:r>
              <a:rPr lang="en-GB" b="1" dirty="0">
                <a:latin typeface="Consolas" panose="020B0609020204030204" pitchFamily="49" charset="0"/>
              </a:rPr>
              <a:t>{ age: { $</a:t>
            </a:r>
            <a:r>
              <a:rPr lang="en-GB" b="1" dirty="0" err="1">
                <a:latin typeface="Consolas" panose="020B0609020204030204" pitchFamily="49" charset="0"/>
              </a:rPr>
              <a:t>eq</a:t>
            </a:r>
            <a:r>
              <a:rPr lang="en-GB" b="1" dirty="0">
                <a:latin typeface="Consolas" panose="020B0609020204030204" pitchFamily="49" charset="0"/>
              </a:rPr>
              <a:t>: 25}} //age == 25</a:t>
            </a:r>
          </a:p>
          <a:p>
            <a:pPr marL="0" indent="0">
              <a:buNone/>
            </a:pPr>
            <a:r>
              <a:rPr lang="en-GB" b="1" dirty="0">
                <a:latin typeface="Consolas" panose="020B0609020204030204" pitchFamily="49" charset="0"/>
              </a:rPr>
              <a:t>{ age: 25 }		//age == 25</a:t>
            </a:r>
          </a:p>
          <a:p>
            <a:pPr marL="0" indent="0">
              <a:buNone/>
            </a:pPr>
            <a:r>
              <a:rPr lang="en-GB" b="1" dirty="0">
                <a:latin typeface="Consolas" panose="020B0609020204030204" pitchFamily="49" charset="0"/>
              </a:rPr>
              <a:t>{ activities : {$</a:t>
            </a:r>
            <a:r>
              <a:rPr lang="en-GB" b="1" dirty="0" err="1">
                <a:latin typeface="Consolas" panose="020B0609020204030204" pitchFamily="49" charset="0"/>
              </a:rPr>
              <a:t>eq</a:t>
            </a:r>
            <a:r>
              <a:rPr lang="en-GB" b="1" dirty="0">
                <a:latin typeface="Consolas" panose="020B0609020204030204" pitchFamily="49" charset="0"/>
              </a:rPr>
              <a:t> : {“Chess Club”}}</a:t>
            </a:r>
          </a:p>
          <a:p>
            <a:pPr marL="0" indent="0">
              <a:buNone/>
            </a:pPr>
            <a:r>
              <a:rPr lang="en-GB" b="1" dirty="0">
                <a:latin typeface="Consolas" panose="020B0609020204030204" pitchFamily="49" charset="0"/>
              </a:rPr>
              <a:t>{ activities : “Chess Club”} // same as above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A5FBA2D-5817-D414-5BAB-44B0C48AAC8C}"/>
              </a:ext>
            </a:extLst>
          </p:cNvPr>
          <p:cNvGrpSpPr/>
          <p:nvPr/>
        </p:nvGrpSpPr>
        <p:grpSpPr>
          <a:xfrm>
            <a:off x="6190412" y="1550729"/>
            <a:ext cx="6001588" cy="2209482"/>
            <a:chOff x="6190412" y="1550729"/>
            <a:chExt cx="6001588" cy="2209482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6DD31D7-F04E-8104-15A5-70B6157596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90412" y="1550729"/>
              <a:ext cx="6001588" cy="1705213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FEAD8FF-4914-C420-9F5A-88C849DEDC53}"/>
                </a:ext>
              </a:extLst>
            </p:cNvPr>
            <p:cNvSpPr txBox="1"/>
            <p:nvPr/>
          </p:nvSpPr>
          <p:spPr>
            <a:xfrm>
              <a:off x="8136847" y="3390879"/>
              <a:ext cx="21087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i="1" dirty="0"/>
                <a:t>Sample Document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27413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58E06-F04E-08EC-CCB9-4F0DFF20B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Comparison operators: </a:t>
            </a:r>
            <a:br>
              <a:rPr lang="en-GB" dirty="0"/>
            </a:br>
            <a:r>
              <a:rPr lang="en-GB" b="1" dirty="0">
                <a:latin typeface="Consolas" panose="020B0609020204030204" pitchFamily="49" charset="0"/>
              </a:rPr>
              <a:t>$</a:t>
            </a:r>
            <a:r>
              <a:rPr lang="en-GB" b="1" dirty="0" err="1">
                <a:latin typeface="Consolas" panose="020B0609020204030204" pitchFamily="49" charset="0"/>
              </a:rPr>
              <a:t>gt</a:t>
            </a:r>
            <a:r>
              <a:rPr lang="en-GB" b="1" dirty="0">
                <a:latin typeface="Consolas" panose="020B0609020204030204" pitchFamily="49" charset="0"/>
              </a:rPr>
              <a:t>, $</a:t>
            </a:r>
            <a:r>
              <a:rPr lang="en-GB" b="1" dirty="0" err="1">
                <a:latin typeface="Consolas" panose="020B0609020204030204" pitchFamily="49" charset="0"/>
              </a:rPr>
              <a:t>lt</a:t>
            </a:r>
            <a:r>
              <a:rPr lang="en-GB" b="1" dirty="0">
                <a:latin typeface="Consolas" panose="020B0609020204030204" pitchFamily="49" charset="0"/>
              </a:rPr>
              <a:t>, $</a:t>
            </a:r>
            <a:r>
              <a:rPr lang="en-GB" b="1" dirty="0" err="1">
                <a:latin typeface="Consolas" panose="020B0609020204030204" pitchFamily="49" charset="0"/>
              </a:rPr>
              <a:t>gte</a:t>
            </a:r>
            <a:r>
              <a:rPr lang="en-GB" b="1" dirty="0">
                <a:latin typeface="Consolas" panose="020B0609020204030204" pitchFamily="49" charset="0"/>
              </a:rPr>
              <a:t>, $</a:t>
            </a:r>
            <a:r>
              <a:rPr lang="en-GB" b="1" dirty="0" err="1">
                <a:latin typeface="Consolas" panose="020B0609020204030204" pitchFamily="49" charset="0"/>
              </a:rPr>
              <a:t>lte</a:t>
            </a:r>
            <a:r>
              <a:rPr lang="en-GB" b="1" dirty="0">
                <a:latin typeface="Consolas" panose="020B0609020204030204" pitchFamily="49" charset="0"/>
              </a:rPr>
              <a:t>, $</a:t>
            </a:r>
            <a:r>
              <a:rPr lang="en-GB" b="1" dirty="0" err="1">
                <a:latin typeface="Consolas" panose="020B0609020204030204" pitchFamily="49" charset="0"/>
              </a:rPr>
              <a:t>eq</a:t>
            </a:r>
            <a:r>
              <a:rPr lang="en-GB" b="1" dirty="0">
                <a:latin typeface="Consolas" panose="020B0609020204030204" pitchFamily="49" charset="0"/>
              </a:rPr>
              <a:t>, $ne</a:t>
            </a:r>
            <a:br>
              <a:rPr lang="en-GB" b="1" dirty="0">
                <a:latin typeface="Consolas" panose="020B0609020204030204" pitchFamily="49" charset="0"/>
              </a:rPr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2D93E-675C-02F7-9FDB-644120C8A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Examples: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>
                <a:latin typeface="Consolas" panose="020B0609020204030204" pitchFamily="49" charset="0"/>
              </a:rPr>
              <a:t>{ {"age" : {$</a:t>
            </a:r>
            <a:r>
              <a:rPr lang="en-GB" b="1" dirty="0" err="1">
                <a:latin typeface="Consolas" panose="020B0609020204030204" pitchFamily="49" charset="0"/>
              </a:rPr>
              <a:t>gt</a:t>
            </a:r>
            <a:r>
              <a:rPr lang="en-GB" b="1" dirty="0">
                <a:latin typeface="Consolas" panose="020B0609020204030204" pitchFamily="49" charset="0"/>
              </a:rPr>
              <a:t> : 22}, "</a:t>
            </a:r>
            <a:r>
              <a:rPr lang="en-GB" b="1" dirty="0" err="1">
                <a:latin typeface="Consolas" panose="020B0609020204030204" pitchFamily="49" charset="0"/>
              </a:rPr>
              <a:t>grades.math</a:t>
            </a:r>
            <a:r>
              <a:rPr lang="en-GB" b="1" dirty="0">
                <a:latin typeface="Consolas" panose="020B0609020204030204" pitchFamily="49" charset="0"/>
              </a:rPr>
              <a:t>" : {$</a:t>
            </a:r>
            <a:r>
              <a:rPr lang="en-GB" b="1" dirty="0" err="1">
                <a:latin typeface="Consolas" panose="020B0609020204030204" pitchFamily="49" charset="0"/>
              </a:rPr>
              <a:t>gt</a:t>
            </a:r>
            <a:r>
              <a:rPr lang="en-GB" b="1" dirty="0">
                <a:latin typeface="Consolas" panose="020B0609020204030204" pitchFamily="49" charset="0"/>
              </a:rPr>
              <a:t> : 90} }</a:t>
            </a:r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57DBB29-CAEA-4E5D-27B7-673BCDC4DEDF}"/>
              </a:ext>
            </a:extLst>
          </p:cNvPr>
          <p:cNvGrpSpPr/>
          <p:nvPr/>
        </p:nvGrpSpPr>
        <p:grpSpPr>
          <a:xfrm>
            <a:off x="838200" y="4283393"/>
            <a:ext cx="6001588" cy="2209482"/>
            <a:chOff x="6190412" y="1550729"/>
            <a:chExt cx="6001588" cy="220948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7C377D0-2320-48B3-3DCE-2A8101BE31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90412" y="1550729"/>
              <a:ext cx="6001588" cy="1705213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A002B21-3198-F779-B52E-CBE90829F9EB}"/>
                </a:ext>
              </a:extLst>
            </p:cNvPr>
            <p:cNvSpPr txBox="1"/>
            <p:nvPr/>
          </p:nvSpPr>
          <p:spPr>
            <a:xfrm>
              <a:off x="8136847" y="3390879"/>
              <a:ext cx="21087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i="1" dirty="0"/>
                <a:t>Sample Document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7482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33B17-9355-1296-FF71-A5B2E198D4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Demo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29B4C3-1465-C5CC-B938-188003BFF5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2502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C91B2-DC27-D4A9-E6C2-00FE4C092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Logical operators:</a:t>
            </a:r>
            <a:br>
              <a:rPr lang="en-GB" dirty="0"/>
            </a:br>
            <a:r>
              <a:rPr lang="en-GB" dirty="0"/>
              <a:t> </a:t>
            </a:r>
            <a:r>
              <a:rPr lang="en-GB" b="1" dirty="0">
                <a:latin typeface="Consolas" panose="020B0609020204030204" pitchFamily="49" charset="0"/>
              </a:rPr>
              <a:t>$and, $or, $not</a:t>
            </a:r>
            <a:br>
              <a:rPr lang="en-GB" b="1" dirty="0">
                <a:latin typeface="Consolas" panose="020B0609020204030204" pitchFamily="49" charset="0"/>
              </a:rPr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7D76C-EEA4-7488-C9F7-710DC6241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353801" cy="435133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Syntax: </a:t>
            </a:r>
          </a:p>
          <a:p>
            <a:pPr marL="0" indent="0">
              <a:buNone/>
            </a:pPr>
            <a:r>
              <a:rPr lang="en-GB" b="1" dirty="0">
                <a:latin typeface="Consolas" panose="020B0609020204030204" pitchFamily="49" charset="0"/>
              </a:rPr>
              <a:t>{ $and: [ </a:t>
            </a:r>
            <a:r>
              <a:rPr lang="en-GB" b="1" dirty="0">
                <a:solidFill>
                  <a:schemeClr val="accent1"/>
                </a:solidFill>
                <a:latin typeface="Consolas" panose="020B0609020204030204" pitchFamily="49" charset="0"/>
              </a:rPr>
              <a:t>{ &lt;expression1&gt; }</a:t>
            </a:r>
            <a:r>
              <a:rPr lang="en-GB" b="1" dirty="0">
                <a:latin typeface="Consolas" panose="020B0609020204030204" pitchFamily="49" charset="0"/>
              </a:rPr>
              <a:t>, </a:t>
            </a:r>
            <a:r>
              <a:rPr lang="en-GB" b="1" dirty="0">
                <a:solidFill>
                  <a:schemeClr val="accent1"/>
                </a:solidFill>
                <a:latin typeface="Consolas" panose="020B0609020204030204" pitchFamily="49" charset="0"/>
              </a:rPr>
              <a:t>{ &lt;expression2&gt; }</a:t>
            </a:r>
            <a:r>
              <a:rPr lang="en-GB" b="1" dirty="0">
                <a:latin typeface="Consolas" panose="020B0609020204030204" pitchFamily="49" charset="0"/>
              </a:rPr>
              <a:t> , </a:t>
            </a:r>
            <a:r>
              <a:rPr lang="en-GB" b="1" dirty="0">
                <a:solidFill>
                  <a:schemeClr val="accent1"/>
                </a:solidFill>
                <a:latin typeface="Consolas" panose="020B0609020204030204" pitchFamily="49" charset="0"/>
              </a:rPr>
              <a:t>...</a:t>
            </a:r>
            <a:r>
              <a:rPr lang="en-GB" b="1" dirty="0">
                <a:latin typeface="Consolas" panose="020B0609020204030204" pitchFamily="49" charset="0"/>
              </a:rPr>
              <a:t>] }</a:t>
            </a:r>
          </a:p>
          <a:p>
            <a:pPr marL="0" indent="0">
              <a:buNone/>
            </a:pPr>
            <a:r>
              <a:rPr lang="en-GB" b="1" dirty="0">
                <a:latin typeface="Consolas" panose="020B0609020204030204" pitchFamily="49" charset="0"/>
              </a:rPr>
              <a:t>{ $or: [ </a:t>
            </a:r>
            <a:r>
              <a:rPr lang="en-GB" b="1" dirty="0">
                <a:solidFill>
                  <a:schemeClr val="accent1"/>
                </a:solidFill>
                <a:latin typeface="Consolas" panose="020B0609020204030204" pitchFamily="49" charset="0"/>
              </a:rPr>
              <a:t>{ &lt;expression1&gt; }</a:t>
            </a:r>
            <a:r>
              <a:rPr lang="en-GB" b="1" dirty="0">
                <a:latin typeface="Consolas" panose="020B0609020204030204" pitchFamily="49" charset="0"/>
              </a:rPr>
              <a:t>, </a:t>
            </a:r>
            <a:r>
              <a:rPr lang="en-GB" b="1" dirty="0">
                <a:solidFill>
                  <a:schemeClr val="accent1"/>
                </a:solidFill>
                <a:latin typeface="Consolas" panose="020B0609020204030204" pitchFamily="49" charset="0"/>
              </a:rPr>
              <a:t>{ &lt;expression2&gt; }</a:t>
            </a:r>
            <a:r>
              <a:rPr lang="en-GB" b="1" dirty="0">
                <a:latin typeface="Consolas" panose="020B0609020204030204" pitchFamily="49" charset="0"/>
              </a:rPr>
              <a:t>, </a:t>
            </a:r>
            <a:r>
              <a:rPr lang="en-GB" b="1" dirty="0">
                <a:solidFill>
                  <a:schemeClr val="accent1"/>
                </a:solidFill>
                <a:latin typeface="Consolas" panose="020B0609020204030204" pitchFamily="49" charset="0"/>
              </a:rPr>
              <a:t>...</a:t>
            </a:r>
            <a:r>
              <a:rPr lang="en-GB" b="1" dirty="0">
                <a:latin typeface="Consolas" panose="020B0609020204030204" pitchFamily="49" charset="0"/>
              </a:rPr>
              <a:t> ] }</a:t>
            </a:r>
          </a:p>
          <a:p>
            <a:pPr marL="0" indent="0">
              <a:buNone/>
            </a:pPr>
            <a:r>
              <a:rPr lang="en-GB" b="1" dirty="0">
                <a:latin typeface="Consolas" panose="020B0609020204030204" pitchFamily="49" charset="0"/>
              </a:rPr>
              <a:t>{ field: { $not: { &lt;operator-expression&gt; } } }</a:t>
            </a:r>
          </a:p>
          <a:p>
            <a:pPr marL="0" indent="0">
              <a:buNone/>
            </a:pPr>
            <a:endParaRPr lang="en-GB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dirty="0"/>
              <a:t>Examples: </a:t>
            </a:r>
          </a:p>
          <a:p>
            <a:pPr marL="0" indent="0">
              <a:buNone/>
            </a:pPr>
            <a:r>
              <a:rPr lang="en-GB" b="1" dirty="0" err="1">
                <a:latin typeface="Consolas" panose="020B0609020204030204" pitchFamily="49" charset="0"/>
              </a:rPr>
              <a:t>db.students.find</a:t>
            </a:r>
            <a:r>
              <a:rPr lang="en-GB" b="1" dirty="0">
                <a:latin typeface="Consolas" panose="020B0609020204030204" pitchFamily="49" charset="0"/>
              </a:rPr>
              <a:t>({$and : [</a:t>
            </a:r>
            <a:r>
              <a:rPr lang="en-GB" b="1" dirty="0">
                <a:solidFill>
                  <a:schemeClr val="accent1"/>
                </a:solidFill>
                <a:latin typeface="Consolas" panose="020B0609020204030204" pitchFamily="49" charset="0"/>
              </a:rPr>
              <a:t>{"age" : {$</a:t>
            </a:r>
            <a:r>
              <a:rPr lang="en-GB" b="1" dirty="0" err="1">
                <a:solidFill>
                  <a:schemeClr val="accent1"/>
                </a:solidFill>
                <a:latin typeface="Consolas" panose="020B0609020204030204" pitchFamily="49" charset="0"/>
              </a:rPr>
              <a:t>gt</a:t>
            </a:r>
            <a:r>
              <a:rPr lang="en-GB" b="1" dirty="0">
                <a:solidFill>
                  <a:schemeClr val="accent1"/>
                </a:solidFill>
                <a:latin typeface="Consolas" panose="020B0609020204030204" pitchFamily="49" charset="0"/>
              </a:rPr>
              <a:t> : 22}}</a:t>
            </a:r>
            <a:r>
              <a:rPr lang="en-GB" b="1" dirty="0">
                <a:latin typeface="Consolas" panose="020B0609020204030204" pitchFamily="49" charset="0"/>
              </a:rPr>
              <a:t>, </a:t>
            </a:r>
            <a:r>
              <a:rPr lang="en-GB" b="1" dirty="0">
                <a:solidFill>
                  <a:schemeClr val="accent1"/>
                </a:solidFill>
                <a:latin typeface="Consolas" panose="020B0609020204030204" pitchFamily="49" charset="0"/>
              </a:rPr>
              <a:t>{"</a:t>
            </a:r>
            <a:r>
              <a:rPr lang="en-GB" b="1" dirty="0" err="1">
                <a:solidFill>
                  <a:schemeClr val="accent1"/>
                </a:solidFill>
                <a:latin typeface="Consolas" panose="020B0609020204030204" pitchFamily="49" charset="0"/>
              </a:rPr>
              <a:t>grades.math</a:t>
            </a:r>
            <a:r>
              <a:rPr lang="en-GB" b="1" dirty="0">
                <a:solidFill>
                  <a:schemeClr val="accent1"/>
                </a:solidFill>
                <a:latin typeface="Consolas" panose="020B0609020204030204" pitchFamily="49" charset="0"/>
              </a:rPr>
              <a:t>" : {$</a:t>
            </a:r>
            <a:r>
              <a:rPr lang="en-GB" b="1" dirty="0" err="1">
                <a:solidFill>
                  <a:schemeClr val="accent1"/>
                </a:solidFill>
                <a:latin typeface="Consolas" panose="020B0609020204030204" pitchFamily="49" charset="0"/>
              </a:rPr>
              <a:t>gt</a:t>
            </a:r>
            <a:r>
              <a:rPr lang="en-GB" b="1" dirty="0">
                <a:solidFill>
                  <a:schemeClr val="accent1"/>
                </a:solidFill>
                <a:latin typeface="Consolas" panose="020B0609020204030204" pitchFamily="49" charset="0"/>
              </a:rPr>
              <a:t> : 90}}</a:t>
            </a:r>
            <a:r>
              <a:rPr lang="en-GB" b="1" dirty="0">
                <a:latin typeface="Consolas" panose="020B0609020204030204" pitchFamily="49" charset="0"/>
              </a:rPr>
              <a:t>]})</a:t>
            </a:r>
          </a:p>
          <a:p>
            <a:endParaRPr lang="en-GB" b="1" dirty="0">
              <a:latin typeface="Consolas" panose="020B0609020204030204" pitchFamily="49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31158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33B17-9355-1296-FF71-A5B2E198D4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Demo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29B4C3-1465-C5CC-B938-188003BFF5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3737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F9313-BB72-2B17-E0AA-246374C1F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Array operators: </a:t>
            </a:r>
            <a:r>
              <a:rPr lang="en-GB" b="1" dirty="0">
                <a:latin typeface="Consolas" panose="020B0609020204030204" pitchFamily="49" charset="0"/>
              </a:rPr>
              <a:t>$in, $all, $size</a:t>
            </a:r>
            <a:br>
              <a:rPr lang="en-GB" b="1" dirty="0">
                <a:latin typeface="Consolas" panose="020B0609020204030204" pitchFamily="49" charset="0"/>
              </a:rPr>
            </a:br>
            <a:endParaRPr lang="en-GB" b="1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91DB0-1035-F388-372A-11AF20CAE4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Syntax: </a:t>
            </a:r>
          </a:p>
          <a:p>
            <a:pPr marL="0" indent="0">
              <a:buNone/>
            </a:pPr>
            <a:r>
              <a:rPr lang="en-GB" b="1" dirty="0">
                <a:latin typeface="Consolas" panose="020B0609020204030204" pitchFamily="49" charset="0"/>
              </a:rPr>
              <a:t>{ field: { $in: [ &lt;value1&gt;, &lt;value2&gt;, ... ] } }</a:t>
            </a:r>
          </a:p>
          <a:p>
            <a:pPr marL="0" indent="0">
              <a:buNone/>
            </a:pPr>
            <a:r>
              <a:rPr lang="en-GB" b="1" dirty="0">
                <a:latin typeface="Consolas" panose="020B0609020204030204" pitchFamily="49" charset="0"/>
              </a:rPr>
              <a:t>{ field: { $all: [ &lt;value1&gt; , &lt;value2&gt; ... ] } }</a:t>
            </a:r>
          </a:p>
          <a:p>
            <a:pPr marL="0" indent="0">
              <a:buNone/>
            </a:pPr>
            <a:r>
              <a:rPr lang="en-GB" b="1" dirty="0">
                <a:latin typeface="Consolas" panose="020B0609020204030204" pitchFamily="49" charset="0"/>
              </a:rPr>
              <a:t>{ field: { $size: &lt;number&gt; } }</a:t>
            </a:r>
          </a:p>
          <a:p>
            <a:pPr marL="0" indent="0">
              <a:buNone/>
            </a:pPr>
            <a:endParaRPr lang="en-GB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dirty="0"/>
              <a:t>Examples: </a:t>
            </a:r>
          </a:p>
          <a:p>
            <a:pPr marL="0" indent="0">
              <a:buNone/>
            </a:pPr>
            <a:r>
              <a:rPr lang="en-GB" b="1" dirty="0">
                <a:latin typeface="Consolas" panose="020B0609020204030204" pitchFamily="49" charset="0"/>
              </a:rPr>
              <a:t>{ activities : { $in : [“Chess Club” , “Robotics”] }</a:t>
            </a:r>
          </a:p>
          <a:p>
            <a:pPr marL="0" indent="0">
              <a:buNone/>
            </a:pPr>
            <a:r>
              <a:rPr lang="en-GB" b="1" dirty="0">
                <a:latin typeface="Consolas" panose="020B0609020204030204" pitchFamily="49" charset="0"/>
              </a:rPr>
              <a:t>{ activities : { $all : [“Chess Club” , “Robotics”]}</a:t>
            </a:r>
          </a:p>
          <a:p>
            <a:pPr marL="0" indent="0">
              <a:buNone/>
            </a:pPr>
            <a:r>
              <a:rPr lang="en-GB" b="1" dirty="0">
                <a:latin typeface="Consolas" panose="020B0609020204030204" pitchFamily="49" charset="0"/>
              </a:rPr>
              <a:t>{ activities : { $size : 2}}</a:t>
            </a:r>
          </a:p>
          <a:p>
            <a:pPr marL="0" indent="0">
              <a:buNone/>
            </a:pPr>
            <a:endParaRPr lang="en-GB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813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33B17-9355-1296-FF71-A5B2E198D4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Indexes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29B4C3-1465-C5CC-B938-188003BFF5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4209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96872-492A-B20D-B2D4-42744B5E9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Indexes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97E78-C123-1B18-09C7-A2F9ADCDA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Syntax: </a:t>
            </a:r>
          </a:p>
          <a:p>
            <a:pPr marL="0" indent="0">
              <a:buNone/>
            </a:pPr>
            <a:r>
              <a:rPr lang="en-GB" b="1" dirty="0" err="1">
                <a:latin typeface="Consolas" panose="020B0609020204030204" pitchFamily="49" charset="0"/>
              </a:rPr>
              <a:t>db.collection.createIndex</a:t>
            </a:r>
            <a:r>
              <a:rPr lang="en-GB" b="1" dirty="0">
                <a:latin typeface="Consolas" panose="020B0609020204030204" pitchFamily="49" charset="0"/>
              </a:rPr>
              <a:t>(&lt;keys&gt;, &lt;options&gt;, &lt;</a:t>
            </a:r>
            <a:r>
              <a:rPr lang="en-GB" b="1" dirty="0" err="1">
                <a:latin typeface="Consolas" panose="020B0609020204030204" pitchFamily="49" charset="0"/>
              </a:rPr>
              <a:t>commitQuorum</a:t>
            </a:r>
            <a:r>
              <a:rPr lang="en-GB" b="1" dirty="0">
                <a:latin typeface="Consolas" panose="020B0609020204030204" pitchFamily="49" charset="0"/>
              </a:rPr>
              <a:t>&gt;)</a:t>
            </a:r>
          </a:p>
          <a:p>
            <a:pPr marL="0" indent="0">
              <a:buNone/>
            </a:pPr>
            <a:endParaRPr lang="en-GB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1285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682E0-70B0-19BC-2D77-C8063A8ED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Indexes: Compound Indexes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5E37D-5868-A521-A4FA-9EE0032EFC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Syntax for Compound Indexes: </a:t>
            </a:r>
          </a:p>
          <a:p>
            <a:pPr marL="0" indent="0">
              <a:buNone/>
            </a:pPr>
            <a:r>
              <a:rPr lang="en-GB" b="1" dirty="0">
                <a:latin typeface="Consolas" panose="020B0609020204030204" pitchFamily="49" charset="0"/>
              </a:rPr>
              <a:t>db.&lt;collection&gt;.</a:t>
            </a:r>
            <a:r>
              <a:rPr lang="en-GB" b="1" dirty="0" err="1">
                <a:latin typeface="Consolas" panose="020B0609020204030204" pitchFamily="49" charset="0"/>
              </a:rPr>
              <a:t>createIndex</a:t>
            </a:r>
            <a:r>
              <a:rPr lang="en-GB" b="1" dirty="0">
                <a:latin typeface="Consolas" panose="020B0609020204030204" pitchFamily="49" charset="0"/>
              </a:rPr>
              <a:t>({</a:t>
            </a:r>
            <a:r>
              <a:rPr lang="en-GB" b="1" dirty="0">
                <a:solidFill>
                  <a:schemeClr val="accent1"/>
                </a:solidFill>
                <a:latin typeface="Consolas" panose="020B0609020204030204" pitchFamily="49" charset="0"/>
              </a:rPr>
              <a:t>field1 : direction</a:t>
            </a:r>
            <a:r>
              <a:rPr lang="en-GB" b="1" dirty="0">
                <a:latin typeface="Consolas" panose="020B0609020204030204" pitchFamily="49" charset="0"/>
              </a:rPr>
              <a:t>, </a:t>
            </a:r>
            <a:r>
              <a:rPr lang="en-GB" b="1" dirty="0">
                <a:solidFill>
                  <a:schemeClr val="accent1"/>
                </a:solidFill>
                <a:latin typeface="Consolas" panose="020B0609020204030204" pitchFamily="49" charset="0"/>
              </a:rPr>
              <a:t>field2 : direction</a:t>
            </a:r>
            <a:r>
              <a:rPr lang="en-GB" b="1" dirty="0">
                <a:latin typeface="Consolas" panose="020B0609020204030204" pitchFamily="49" charset="0"/>
              </a:rPr>
              <a:t>, …})</a:t>
            </a:r>
          </a:p>
          <a:p>
            <a:pPr marL="0" indent="0">
              <a:buNone/>
            </a:pPr>
            <a:endParaRPr lang="en-GB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dirty="0"/>
              <a:t>Example: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 err="1">
                <a:latin typeface="Consolas" panose="020B0609020204030204" pitchFamily="49" charset="0"/>
              </a:rPr>
              <a:t>db.students.createIndex</a:t>
            </a:r>
            <a:r>
              <a:rPr lang="en-GB" b="1" dirty="0">
                <a:latin typeface="Consolas" panose="020B0609020204030204" pitchFamily="49" charset="0"/>
              </a:rPr>
              <a:t>({</a:t>
            </a:r>
            <a:r>
              <a:rPr lang="en-GB" b="1" dirty="0">
                <a:solidFill>
                  <a:schemeClr val="accent1"/>
                </a:solidFill>
                <a:latin typeface="Consolas" panose="020B0609020204030204" pitchFamily="49" charset="0"/>
              </a:rPr>
              <a:t>“age” : 1</a:t>
            </a:r>
            <a:r>
              <a:rPr lang="en-GB" b="1" dirty="0">
                <a:latin typeface="Consolas" panose="020B0609020204030204" pitchFamily="49" charset="0"/>
              </a:rPr>
              <a:t>, </a:t>
            </a:r>
            <a:r>
              <a:rPr lang="en-GB" b="1" dirty="0">
                <a:solidFill>
                  <a:schemeClr val="accent1"/>
                </a:solidFill>
                <a:latin typeface="Consolas" panose="020B0609020204030204" pitchFamily="49" charset="0"/>
              </a:rPr>
              <a:t>“</a:t>
            </a:r>
            <a:r>
              <a:rPr lang="en-GB" b="1" dirty="0" err="1">
                <a:solidFill>
                  <a:schemeClr val="accent1"/>
                </a:solidFill>
                <a:latin typeface="Consolas" panose="020B0609020204030204" pitchFamily="49" charset="0"/>
              </a:rPr>
              <a:t>grades.math</a:t>
            </a:r>
            <a:r>
              <a:rPr lang="en-GB" b="1" dirty="0">
                <a:solidFill>
                  <a:schemeClr val="accent1"/>
                </a:solidFill>
                <a:latin typeface="Consolas" panose="020B0609020204030204" pitchFamily="49" charset="0"/>
              </a:rPr>
              <a:t>” : 1</a:t>
            </a:r>
            <a:r>
              <a:rPr lang="en-GB" b="1" dirty="0">
                <a:latin typeface="Consolas" panose="020B0609020204030204" pitchFamily="49" charset="0"/>
              </a:rPr>
              <a:t>})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36823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33B17-9355-1296-FF71-A5B2E198D4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Demo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29B4C3-1465-C5CC-B938-188003BFF5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136498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682E0-70B0-19BC-2D77-C8063A8ED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Indexes: Text Indexes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5E37D-5868-A521-A4FA-9EE0032EFC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/>
              <a:t>Syntax for Text Indexes: </a:t>
            </a:r>
          </a:p>
          <a:p>
            <a:pPr marL="0" indent="0">
              <a:buNone/>
            </a:pPr>
            <a:r>
              <a:rPr lang="en-GB" sz="2000" b="1" dirty="0">
                <a:latin typeface="Consolas" panose="020B0609020204030204" pitchFamily="49" charset="0"/>
              </a:rPr>
              <a:t>db.&lt;collection&gt;.</a:t>
            </a:r>
            <a:r>
              <a:rPr lang="en-GB" sz="2000" b="1" dirty="0" err="1">
                <a:latin typeface="Consolas" panose="020B0609020204030204" pitchFamily="49" charset="0"/>
              </a:rPr>
              <a:t>createIndex</a:t>
            </a:r>
            <a:r>
              <a:rPr lang="en-GB" sz="2000" b="1" dirty="0">
                <a:latin typeface="Consolas" panose="020B0609020204030204" pitchFamily="49" charset="0"/>
              </a:rPr>
              <a:t>({</a:t>
            </a:r>
            <a:r>
              <a:rPr lang="en-GB" sz="2000" b="1" dirty="0">
                <a:solidFill>
                  <a:schemeClr val="accent1"/>
                </a:solidFill>
                <a:latin typeface="Consolas" panose="020B0609020204030204" pitchFamily="49" charset="0"/>
              </a:rPr>
              <a:t>field1 : “text”</a:t>
            </a:r>
            <a:r>
              <a:rPr lang="en-GB" sz="2000" b="1" dirty="0">
                <a:latin typeface="Consolas" panose="020B0609020204030204" pitchFamily="49" charset="0"/>
              </a:rPr>
              <a:t>, </a:t>
            </a:r>
            <a:r>
              <a:rPr lang="en-GB" sz="2000" b="1" dirty="0">
                <a:solidFill>
                  <a:schemeClr val="accent1"/>
                </a:solidFill>
                <a:latin typeface="Consolas" panose="020B0609020204030204" pitchFamily="49" charset="0"/>
              </a:rPr>
              <a:t>field2 : “text”</a:t>
            </a:r>
            <a:r>
              <a:rPr lang="en-GB" sz="2000" b="1" dirty="0">
                <a:latin typeface="Consolas" panose="020B0609020204030204" pitchFamily="49" charset="0"/>
              </a:rPr>
              <a:t>, …})</a:t>
            </a:r>
          </a:p>
          <a:p>
            <a:pPr marL="0" indent="0">
              <a:buNone/>
            </a:pPr>
            <a:endParaRPr lang="en-GB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dirty="0"/>
              <a:t>Example: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sz="2400" b="1" dirty="0" err="1">
                <a:latin typeface="Consolas" panose="020B0609020204030204" pitchFamily="49" charset="0"/>
              </a:rPr>
              <a:t>db.songs.createIndex</a:t>
            </a:r>
            <a:r>
              <a:rPr lang="en-GB" sz="2400" b="1" dirty="0">
                <a:latin typeface="Consolas" panose="020B0609020204030204" pitchFamily="49" charset="0"/>
              </a:rPr>
              <a:t>({</a:t>
            </a:r>
            <a:r>
              <a:rPr lang="en-GB" sz="2400" b="1" dirty="0">
                <a:solidFill>
                  <a:schemeClr val="accent1"/>
                </a:solidFill>
                <a:latin typeface="Consolas" panose="020B0609020204030204" pitchFamily="49" charset="0"/>
              </a:rPr>
              <a:t>“title” : “text”</a:t>
            </a:r>
            <a:r>
              <a:rPr lang="en-GB" sz="2400" b="1" dirty="0">
                <a:latin typeface="Consolas" panose="020B0609020204030204" pitchFamily="49" charset="0"/>
              </a:rPr>
              <a:t>, </a:t>
            </a:r>
            <a:r>
              <a:rPr lang="en-GB" sz="2400" b="1" dirty="0">
                <a:solidFill>
                  <a:schemeClr val="accent1"/>
                </a:solidFill>
                <a:latin typeface="Consolas" panose="020B0609020204030204" pitchFamily="49" charset="0"/>
              </a:rPr>
              <a:t>“artists” : “text</a:t>
            </a:r>
            <a:r>
              <a:rPr lang="en-GB" sz="2400" b="1" dirty="0">
                <a:latin typeface="Consolas" panose="020B0609020204030204" pitchFamily="49" charset="0"/>
              </a:rPr>
              <a:t>})</a:t>
            </a:r>
          </a:p>
          <a:p>
            <a:pPr marL="0" indent="0">
              <a:buNone/>
            </a:pPr>
            <a:r>
              <a:rPr lang="en-GB" sz="3000" dirty="0"/>
              <a:t>Search Example: </a:t>
            </a:r>
          </a:p>
          <a:p>
            <a:pPr marL="0" indent="0">
              <a:buNone/>
            </a:pPr>
            <a:endParaRPr lang="en-GB" sz="3000" dirty="0"/>
          </a:p>
          <a:p>
            <a:pPr marL="0" indent="0">
              <a:buNone/>
            </a:pPr>
            <a:r>
              <a:rPr lang="en-GB" sz="2400" b="1" dirty="0" err="1">
                <a:latin typeface="Consolas" panose="020B0609020204030204" pitchFamily="49" charset="0"/>
              </a:rPr>
              <a:t>db.songs.find</a:t>
            </a:r>
            <a:r>
              <a:rPr lang="en-GB" sz="2400" b="1" dirty="0">
                <a:latin typeface="Consolas" panose="020B0609020204030204" pitchFamily="49" charset="0"/>
              </a:rPr>
              <a:t>({</a:t>
            </a:r>
          </a:p>
          <a:p>
            <a:pPr marL="0" indent="0">
              <a:buNone/>
            </a:pPr>
            <a:r>
              <a:rPr lang="en-GB" sz="2400" b="1" dirty="0">
                <a:latin typeface="Consolas" panose="020B0609020204030204" pitchFamily="49" charset="0"/>
              </a:rPr>
              <a:t>    "$text" : {"$search" : "love"}</a:t>
            </a:r>
          </a:p>
          <a:p>
            <a:pPr marL="0" indent="0">
              <a:buNone/>
            </a:pPr>
            <a:r>
              <a:rPr lang="en-GB" sz="2400" b="1" dirty="0">
                <a:latin typeface="Consolas" panose="020B0609020204030204" pitchFamily="49" charset="0"/>
              </a:rPr>
              <a:t>});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509944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33B17-9355-1296-FF71-A5B2E198D4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Demo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29B4C3-1465-C5CC-B938-188003BFF5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2247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33B17-9355-1296-FF71-A5B2E198D4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Aggregation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29B4C3-1465-C5CC-B938-188003BFF5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829307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682E0-70B0-19BC-2D77-C8063A8ED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Aggregation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2A8670B-8DF3-DAA5-F4B7-75AA655F59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809202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21BD653-35BD-7EE7-3A62-65DF4C681D38}"/>
              </a:ext>
            </a:extLst>
          </p:cNvPr>
          <p:cNvSpPr txBox="1"/>
          <p:nvPr/>
        </p:nvSpPr>
        <p:spPr>
          <a:xfrm>
            <a:off x="3930520" y="5388072"/>
            <a:ext cx="4330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Aggregation Pipeline</a:t>
            </a:r>
          </a:p>
        </p:txBody>
      </p:sp>
    </p:spTree>
    <p:extLst>
      <p:ext uri="{BB962C8B-B14F-4D97-AF65-F5344CB8AC3E}">
        <p14:creationId xmlns:p14="http://schemas.microsoft.com/office/powerpoint/2010/main" val="450487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682E0-70B0-19BC-2D77-C8063A8ED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Aggregation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5E37D-5868-A521-A4FA-9EE0032EFC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9485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dirty="0"/>
              <a:t>Syntax: </a:t>
            </a:r>
          </a:p>
          <a:p>
            <a:pPr marL="0" indent="0">
              <a:buNone/>
            </a:pPr>
            <a:r>
              <a:rPr lang="en-GB" sz="2400" b="1" dirty="0">
                <a:latin typeface="Consolas" panose="020B0609020204030204" pitchFamily="49" charset="0"/>
              </a:rPr>
              <a:t>db.&lt;collection&gt;.aggregate(</a:t>
            </a:r>
          </a:p>
          <a:p>
            <a:pPr marL="0" indent="0">
              <a:buNone/>
            </a:pPr>
            <a:r>
              <a:rPr lang="en-GB" sz="2400" b="1" dirty="0">
                <a:latin typeface="Consolas" panose="020B0609020204030204" pitchFamily="49" charset="0"/>
              </a:rPr>
              <a:t>[</a:t>
            </a:r>
          </a:p>
          <a:p>
            <a:pPr marL="0" indent="0">
              <a:buNone/>
            </a:pPr>
            <a:r>
              <a:rPr lang="en-GB" sz="2400" b="1" dirty="0">
                <a:latin typeface="Consolas" panose="020B0609020204030204" pitchFamily="49" charset="0"/>
              </a:rPr>
              <a:t>	{&lt;Stage 1&gt;}, </a:t>
            </a:r>
          </a:p>
          <a:p>
            <a:pPr marL="0" indent="0">
              <a:buNone/>
            </a:pPr>
            <a:r>
              <a:rPr lang="en-GB" sz="2400" b="1" dirty="0">
                <a:latin typeface="Consolas" panose="020B0609020204030204" pitchFamily="49" charset="0"/>
              </a:rPr>
              <a:t>	{&lt;Stage 2&gt;}, </a:t>
            </a:r>
          </a:p>
          <a:p>
            <a:pPr marL="0" indent="0">
              <a:buNone/>
            </a:pPr>
            <a:r>
              <a:rPr lang="en-GB" sz="2400" b="1" dirty="0">
                <a:latin typeface="Consolas" panose="020B0609020204030204" pitchFamily="49" charset="0"/>
              </a:rPr>
              <a:t>	{&lt;Stage N&gt;}</a:t>
            </a:r>
          </a:p>
          <a:p>
            <a:pPr marL="0" indent="0">
              <a:buNone/>
            </a:pPr>
            <a:r>
              <a:rPr lang="en-GB" sz="2400" b="1" dirty="0">
                <a:latin typeface="Consolas" panose="020B0609020204030204" pitchFamily="49" charset="0"/>
              </a:rPr>
              <a:t>]);</a:t>
            </a:r>
          </a:p>
          <a:p>
            <a:pPr marL="0" indent="0">
              <a:buNone/>
            </a:pPr>
            <a:endParaRPr lang="en-GB" sz="18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endParaRPr lang="en-GB" sz="1800" dirty="0"/>
          </a:p>
          <a:p>
            <a:endParaRPr lang="en-GB" sz="18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17725F1-EAD3-9490-DA11-9BB1EAEA3BB8}"/>
              </a:ext>
            </a:extLst>
          </p:cNvPr>
          <p:cNvGrpSpPr/>
          <p:nvPr/>
        </p:nvGrpSpPr>
        <p:grpSpPr>
          <a:xfrm>
            <a:off x="6428518" y="1495608"/>
            <a:ext cx="5325218" cy="2118058"/>
            <a:chOff x="6428518" y="1495608"/>
            <a:chExt cx="5325218" cy="2118058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20234EA-3882-A536-80ED-85FAACBD68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28518" y="1495608"/>
              <a:ext cx="5325218" cy="1552792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C180816-AC42-96FF-6415-4E9BEBCF5CBC}"/>
                </a:ext>
              </a:extLst>
            </p:cNvPr>
            <p:cNvSpPr txBox="1"/>
            <p:nvPr/>
          </p:nvSpPr>
          <p:spPr>
            <a:xfrm>
              <a:off x="6840619" y="3244334"/>
              <a:ext cx="45131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i="1" dirty="0"/>
                <a:t>Sample document from “songs” collection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407211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DF22C-8B24-A5F9-2BDB-5DC805F3D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Aggregation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A870D-28FF-D115-22E0-1AD8764F8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Example: </a:t>
            </a:r>
          </a:p>
          <a:p>
            <a:pPr marL="0" indent="0">
              <a:buNone/>
            </a:pPr>
            <a:r>
              <a:rPr lang="en-GB" sz="2000" b="1" dirty="0" err="1">
                <a:latin typeface="Consolas" panose="020B0609020204030204" pitchFamily="49" charset="0"/>
              </a:rPr>
              <a:t>db.songs.aggregate</a:t>
            </a:r>
            <a:r>
              <a:rPr lang="en-GB" sz="2000" b="1" dirty="0">
                <a:latin typeface="Consolas" panose="020B0609020204030204" pitchFamily="49" charset="0"/>
              </a:rPr>
              <a:t>(</a:t>
            </a:r>
          </a:p>
          <a:p>
            <a:pPr marL="0" indent="0">
              <a:buNone/>
            </a:pPr>
            <a:r>
              <a:rPr lang="en-GB" sz="2000" b="1" dirty="0">
                <a:latin typeface="Consolas" panose="020B0609020204030204" pitchFamily="49" charset="0"/>
              </a:rPr>
              <a:t>  [</a:t>
            </a:r>
          </a:p>
          <a:p>
            <a:pPr marL="0" indent="0">
              <a:buNone/>
            </a:pPr>
            <a:r>
              <a:rPr lang="en-GB" sz="2000" b="1" dirty="0">
                <a:latin typeface="Consolas" panose="020B0609020204030204" pitchFamily="49" charset="0"/>
              </a:rPr>
              <a:t>    {"$match" : {"genres" : "Pop"}}, </a:t>
            </a:r>
          </a:p>
          <a:p>
            <a:pPr marL="0" indent="0">
              <a:buNone/>
            </a:pPr>
            <a:r>
              <a:rPr lang="en-GB" sz="2000" b="1" dirty="0">
                <a:latin typeface="Consolas" panose="020B0609020204030204" pitchFamily="49" charset="0"/>
              </a:rPr>
              <a:t>    {"$group" : {"_id" : "$year", "</a:t>
            </a:r>
            <a:r>
              <a:rPr lang="en-GB" sz="2000" b="1" dirty="0" err="1">
                <a:latin typeface="Consolas" panose="020B0609020204030204" pitchFamily="49" charset="0"/>
              </a:rPr>
              <a:t>songs_per_year</a:t>
            </a:r>
            <a:r>
              <a:rPr lang="en-GB" sz="2000" b="1" dirty="0">
                <a:latin typeface="Consolas" panose="020B0609020204030204" pitchFamily="49" charset="0"/>
              </a:rPr>
              <a:t>" : {"$sum" : 1 }}}, </a:t>
            </a:r>
          </a:p>
          <a:p>
            <a:pPr marL="0" indent="0">
              <a:buNone/>
            </a:pPr>
            <a:r>
              <a:rPr lang="en-GB" sz="2000" b="1" dirty="0">
                <a:latin typeface="Consolas" panose="020B0609020204030204" pitchFamily="49" charset="0"/>
              </a:rPr>
              <a:t>    {"$sort" : {"_id" : 1}}</a:t>
            </a:r>
          </a:p>
          <a:p>
            <a:pPr marL="0" indent="0">
              <a:buNone/>
            </a:pPr>
            <a:r>
              <a:rPr lang="en-GB" sz="2000" b="1" dirty="0">
                <a:latin typeface="Consolas" panose="020B0609020204030204" pitchFamily="49" charset="0"/>
              </a:rPr>
              <a:t>  ]</a:t>
            </a:r>
          </a:p>
          <a:p>
            <a:pPr marL="0" indent="0">
              <a:buNone/>
            </a:pPr>
            <a:r>
              <a:rPr lang="en-GB" sz="2000" b="1" dirty="0">
                <a:latin typeface="Consolas" panose="020B0609020204030204" pitchFamily="49" charset="0"/>
              </a:rPr>
              <a:t>);</a:t>
            </a:r>
            <a:endParaRPr lang="en-GB" sz="2000" dirty="0"/>
          </a:p>
          <a:p>
            <a:pPr marL="0" indent="0">
              <a:buNone/>
            </a:pPr>
            <a:endParaRPr lang="en-GB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6BC4D76-F997-3CB7-37C8-42E094A73441}"/>
              </a:ext>
            </a:extLst>
          </p:cNvPr>
          <p:cNvGrpSpPr/>
          <p:nvPr/>
        </p:nvGrpSpPr>
        <p:grpSpPr>
          <a:xfrm>
            <a:off x="6437849" y="870457"/>
            <a:ext cx="5325218" cy="2118058"/>
            <a:chOff x="6428518" y="1495608"/>
            <a:chExt cx="5325218" cy="211805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FA27D0C-CDDF-E182-C535-FF38BC7B52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28518" y="1495608"/>
              <a:ext cx="5325218" cy="1552792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A89E80E-A42B-4860-6C4F-F483EB98E149}"/>
                </a:ext>
              </a:extLst>
            </p:cNvPr>
            <p:cNvSpPr txBox="1"/>
            <p:nvPr/>
          </p:nvSpPr>
          <p:spPr>
            <a:xfrm>
              <a:off x="6840619" y="3244334"/>
              <a:ext cx="45131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i="1" dirty="0"/>
                <a:t>Sample document from “songs” collection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140872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33B17-9355-1296-FF71-A5B2E198D4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MongoDB Compass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29B4C3-1465-C5CC-B938-188003BFF5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94136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0699C-071F-3AFC-BEF7-6AB6AB978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hlinkClick r:id="rId2"/>
              </a:rPr>
              <a:t>https://mongo.vkutsev.xyz/posts/second%20-exercise/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75560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2875</TotalTime>
  <Words>668</Words>
  <Application>Microsoft Office PowerPoint</Application>
  <PresentationFormat>Widescreen</PresentationFormat>
  <Paragraphs>98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Consolas</vt:lpstr>
      <vt:lpstr>Office Theme</vt:lpstr>
      <vt:lpstr>MongoDB Queries</vt:lpstr>
      <vt:lpstr>Queries with $Operators</vt:lpstr>
      <vt:lpstr>Comparison operators:  $gt, $lt, $gte, $lte, $eq, $ne </vt:lpstr>
      <vt:lpstr>Comparison operators:  $gt, $lt, $gte, $lte, $eq, $ne </vt:lpstr>
      <vt:lpstr>Demo</vt:lpstr>
      <vt:lpstr>Logical operators:  $and, $or, $not </vt:lpstr>
      <vt:lpstr>Demo</vt:lpstr>
      <vt:lpstr>Array operators: $in, $all, $size </vt:lpstr>
      <vt:lpstr>Indexes</vt:lpstr>
      <vt:lpstr>Indexes</vt:lpstr>
      <vt:lpstr>Indexes: Compound Indexes</vt:lpstr>
      <vt:lpstr>Demo</vt:lpstr>
      <vt:lpstr>Indexes: Text Indexes</vt:lpstr>
      <vt:lpstr>Demo</vt:lpstr>
      <vt:lpstr>Aggregation</vt:lpstr>
      <vt:lpstr>Aggregation</vt:lpstr>
      <vt:lpstr>Aggregation pipeline</vt:lpstr>
      <vt:lpstr>Aggregation pipeline</vt:lpstr>
      <vt:lpstr>MongoDB Compass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borislav</dc:creator>
  <cp:lastModifiedBy>borislav</cp:lastModifiedBy>
  <cp:revision>3</cp:revision>
  <dcterms:created xsi:type="dcterms:W3CDTF">2026-03-16T09:59:48Z</dcterms:created>
  <dcterms:modified xsi:type="dcterms:W3CDTF">2026-03-18T09:55:05Z</dcterms:modified>
</cp:coreProperties>
</file>