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60" r:id="rId4"/>
    <p:sldId id="262" r:id="rId5"/>
    <p:sldId id="263" r:id="rId6"/>
    <p:sldId id="264" r:id="rId7"/>
    <p:sldId id="261" r:id="rId8"/>
    <p:sldId id="265" r:id="rId9"/>
    <p:sldId id="266" r:id="rId10"/>
    <p:sldId id="268" r:id="rId11"/>
    <p:sldId id="273" r:id="rId12"/>
    <p:sldId id="267" r:id="rId13"/>
    <p:sldId id="269" r:id="rId14"/>
    <p:sldId id="271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4" r:id="rId23"/>
    <p:sldId id="282" r:id="rId24"/>
    <p:sldId id="283" r:id="rId25"/>
    <p:sldId id="287" r:id="rId26"/>
    <p:sldId id="285" r:id="rId27"/>
    <p:sldId id="344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221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D6F4B9-DE41-4738-8C55-69420E35A0DF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83A599-F70C-4905-AAA5-CFCE5D3E78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9536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6" name="Google Shape;3596;g21a88363a9f_1_49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7" name="Google Shape;3597;g21a88363a9f_1_49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MongoDB sharding uses three components:</a:t>
            </a:r>
            <a:endParaRPr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</a:rPr>
              <a:t>shards: Each shard contains a subset of the sharded data. Each shard must be deployed as a replica set.</a:t>
            </a:r>
            <a:endParaRPr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</a:rPr>
              <a:t>mongos: The mongos acts as a query router, providing an interface between client applications and the sharded cluster.</a:t>
            </a:r>
            <a:endParaRPr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</a:rPr>
              <a:t>config servers: Config servers store metadata and configuration settings for the cluster. As of MongoDB 3.4, config servers must be deployed as a replica set (CSRS).</a:t>
            </a: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D9F82-46E0-DEBA-FEDA-A98A16B6D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D64866-7135-AACC-4D0F-EB336D9386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4CD30-95B1-271D-177B-5BA59C0A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44E9D-BDE2-4863-859B-83B085A0520B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6D4A2-FD0C-5DB6-F1F5-0CFECE556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BFFC4-9EF8-09A7-B021-0E93D33A1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A3F26-7B60-4687-8CC9-4A2B9F1420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6743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83BF4-D9F2-A094-F9F7-8FB21C077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3A21A-F1A8-133F-118A-A1888BFAB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205DE-0ECE-D64B-F91B-00A45DC1B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44E9D-BDE2-4863-859B-83B085A0520B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72BFE-AF5B-C7C0-BA19-4C41AF879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E3158-90C6-D5C2-A783-6D4B87F61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A3F26-7B60-4687-8CC9-4A2B9F1420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3610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166C5-0E11-3171-BE74-6CB61581D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692415-DAF2-3D1F-0712-89E32B76E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F83C3-88F3-B6DA-25BD-6253D70F4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44E9D-BDE2-4863-859B-83B085A0520B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40C63-E993-46DA-8F44-B766ECD62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F564E-6F94-B591-A551-9BB1BB8DD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A3F26-7B60-4687-8CC9-4A2B9F1420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4103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248D7-33D1-1712-34A0-0C50E8C2C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954F8-2914-46FF-BC2B-AB3B41FAF3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7DC49-BEB5-9CEF-9CDA-171132E7C3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B7AA11-33F2-B86A-D13D-639AAC28C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44E9D-BDE2-4863-859B-83B085A0520B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8708FD-2FE7-D25E-E364-75A1CC630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E7240F-5260-3350-138F-E6597FEE3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A3F26-7B60-4687-8CC9-4A2B9F1420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6346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48EFB-B7BD-74F0-9BA6-2A724FC14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C31C6D-19C7-B2D5-6C93-6840717B5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891CD3-F7DD-1C49-83E7-53B50EF2BB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AEEB9A-F975-5980-D2E3-69B3741491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D61D55-072A-9EC8-F9C8-DD6D954BDC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45A096-067D-2457-FBB6-E2F6255A4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44E9D-BDE2-4863-859B-83B085A0520B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1124FD-9D10-819E-B00B-87C3D8A66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0A2DA5-97EA-CBEF-B587-90402D698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A3F26-7B60-4687-8CC9-4A2B9F1420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0819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0932E-15F9-1AF8-58A3-D48C0DFE7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96803B-E5C7-0A8B-93CF-27FCFC843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44E9D-BDE2-4863-859B-83B085A0520B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B02448-0888-9AB1-C385-3C87861E5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BF3FDE-3BE3-7120-7165-97F905DE8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A3F26-7B60-4687-8CC9-4A2B9F1420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7112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932D9F-6C6A-E8BF-F066-EA84F05B7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44E9D-BDE2-4863-859B-83B085A0520B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BB50ED-6620-BCFD-0D5D-BCC627A23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1C0AB-15A0-866A-A736-FC6056E28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A3F26-7B60-4687-8CC9-4A2B9F1420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6435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9308D-65F0-BC83-9B1D-6784E150F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48E2A-4C7E-62EB-403E-16D3C211F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559B4C-E9CD-8191-894A-1CA323A9FB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662424-4C25-BD33-11D8-8454B974F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44E9D-BDE2-4863-859B-83B085A0520B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917CA5-B1C9-A0CE-8595-28AA1A69A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52EA53-1B72-8659-565F-D6909E1D2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A3F26-7B60-4687-8CC9-4A2B9F1420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1681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B32DF-340C-CC35-7CC6-3515F1454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0BACEE-F950-ED98-F811-27E9DC73AB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B1C49E-A768-92F9-FB24-55EA1203C8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77BF00-244B-C887-6E99-C8BA04558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44E9D-BDE2-4863-859B-83B085A0520B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4ABF-CCDA-14CC-AF89-9E6D72449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C646D3-DC29-1CFA-A356-38A40A3BF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A3F26-7B60-4687-8CC9-4A2B9F1420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4137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5FF88-31AC-EED1-FBD3-28585D00D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69E0C0-7FB8-1890-A850-4EC7287425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822E2-926C-766E-4494-92093459B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44E9D-BDE2-4863-859B-83B085A0520B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3E842-0462-AA18-5A98-E69BD2622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FE8AD-4341-3AB7-19C5-C8AFADC25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A3F26-7B60-4687-8CC9-4A2B9F1420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4751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18A880-F029-5892-9332-6889627260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4AED3F-5769-525E-2679-F1DC7762B0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81FA1-AC9A-A875-A7F6-F2F3C0424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44E9D-BDE2-4863-859B-83B085A0520B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9ACC9-E428-0BFE-76E9-10752873D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A0004-1263-CD66-1ED0-15E2C8858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A3F26-7B60-4687-8CC9-4A2B9F1420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85141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 Body_Blank: Light">
  <p:cSld name="02 Body_Blank: Light">
    <p:bg>
      <p:bgPr>
        <a:solidFill>
          <a:schemeClr val="lt1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6"/>
          <p:cNvSpPr/>
          <p:nvPr/>
        </p:nvSpPr>
        <p:spPr>
          <a:xfrm>
            <a:off x="11294737" y="431900"/>
            <a:ext cx="348673" cy="389115"/>
          </a:xfrm>
          <a:custGeom>
            <a:avLst/>
            <a:gdLst/>
            <a:ahLst/>
            <a:cxnLst/>
            <a:rect l="l" t="t" r="r" b="b"/>
            <a:pathLst>
              <a:path w="11467" h="12797" extrusionOk="0">
                <a:moveTo>
                  <a:pt x="5739" y="4453"/>
                </a:moveTo>
                <a:cubicBezTo>
                  <a:pt x="5745" y="4453"/>
                  <a:pt x="5751" y="4456"/>
                  <a:pt x="5751" y="4462"/>
                </a:cubicBezTo>
                <a:lnTo>
                  <a:pt x="6037" y="10868"/>
                </a:lnTo>
                <a:lnTo>
                  <a:pt x="6037" y="10880"/>
                </a:lnTo>
                <a:cubicBezTo>
                  <a:pt x="5977" y="10987"/>
                  <a:pt x="5739" y="11189"/>
                  <a:pt x="5739" y="11189"/>
                </a:cubicBezTo>
                <a:cubicBezTo>
                  <a:pt x="5739" y="11189"/>
                  <a:pt x="5501" y="10975"/>
                  <a:pt x="5442" y="10880"/>
                </a:cubicBezTo>
                <a:lnTo>
                  <a:pt x="5442" y="10868"/>
                </a:lnTo>
                <a:lnTo>
                  <a:pt x="5727" y="4462"/>
                </a:lnTo>
                <a:cubicBezTo>
                  <a:pt x="5727" y="4456"/>
                  <a:pt x="5733" y="4453"/>
                  <a:pt x="5739" y="4453"/>
                </a:cubicBezTo>
                <a:close/>
                <a:moveTo>
                  <a:pt x="5729" y="0"/>
                </a:moveTo>
                <a:cubicBezTo>
                  <a:pt x="5722" y="0"/>
                  <a:pt x="5716" y="3"/>
                  <a:pt x="5716" y="9"/>
                </a:cubicBezTo>
                <a:cubicBezTo>
                  <a:pt x="5632" y="152"/>
                  <a:pt x="5168" y="795"/>
                  <a:pt x="4620" y="1426"/>
                </a:cubicBezTo>
                <a:cubicBezTo>
                  <a:pt x="1" y="7308"/>
                  <a:pt x="5346" y="11284"/>
                  <a:pt x="5346" y="11284"/>
                </a:cubicBezTo>
                <a:lnTo>
                  <a:pt x="5394" y="11308"/>
                </a:lnTo>
                <a:cubicBezTo>
                  <a:pt x="5442" y="11915"/>
                  <a:pt x="5525" y="12796"/>
                  <a:pt x="5525" y="12796"/>
                </a:cubicBezTo>
                <a:lnTo>
                  <a:pt x="5918" y="12796"/>
                </a:lnTo>
                <a:cubicBezTo>
                  <a:pt x="5918" y="12796"/>
                  <a:pt x="6013" y="11915"/>
                  <a:pt x="6049" y="11308"/>
                </a:cubicBezTo>
                <a:lnTo>
                  <a:pt x="6097" y="11284"/>
                </a:lnTo>
                <a:cubicBezTo>
                  <a:pt x="6120" y="11261"/>
                  <a:pt x="11466" y="7308"/>
                  <a:pt x="6859" y="1426"/>
                </a:cubicBezTo>
                <a:cubicBezTo>
                  <a:pt x="6323" y="783"/>
                  <a:pt x="5858" y="152"/>
                  <a:pt x="5751" y="9"/>
                </a:cubicBezTo>
                <a:cubicBezTo>
                  <a:pt x="5745" y="3"/>
                  <a:pt x="5736" y="0"/>
                  <a:pt x="572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60229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">
          <p15:clr>
            <a:srgbClr val="FA7B17"/>
          </p15:clr>
        </p15:guide>
        <p15:guide id="2" pos="668">
          <p15:clr>
            <a:srgbClr val="FA7B17"/>
          </p15:clr>
        </p15:guide>
        <p15:guide id="3" pos="943">
          <p15:clr>
            <a:srgbClr val="FA7B17"/>
          </p15:clr>
        </p15:guide>
        <p15:guide id="4" pos="1219">
          <p15:clr>
            <a:srgbClr val="FA7B17"/>
          </p15:clr>
        </p15:guide>
        <p15:guide id="5" pos="1496">
          <p15:clr>
            <a:srgbClr val="FA7B17"/>
          </p15:clr>
        </p15:guide>
        <p15:guide id="6" pos="1772">
          <p15:clr>
            <a:srgbClr val="FA7B17"/>
          </p15:clr>
        </p15:guide>
        <p15:guide id="7" pos="2049">
          <p15:clr>
            <a:srgbClr val="FA7B17"/>
          </p15:clr>
        </p15:guide>
        <p15:guide id="8" pos="2325">
          <p15:clr>
            <a:srgbClr val="FA7B17"/>
          </p15:clr>
        </p15:guide>
        <p15:guide id="9" pos="2602">
          <p15:clr>
            <a:srgbClr val="FA7B17"/>
          </p15:clr>
        </p15:guide>
        <p15:guide id="10" pos="2878">
          <p15:clr>
            <a:srgbClr val="FA7B17"/>
          </p15:clr>
        </p15:guide>
        <p15:guide id="11" pos="3155">
          <p15:clr>
            <a:srgbClr val="FA7B17"/>
          </p15:clr>
        </p15:guide>
        <p15:guide id="12" pos="3431">
          <p15:clr>
            <a:srgbClr val="FA7B17"/>
          </p15:clr>
        </p15:guide>
        <p15:guide id="13" pos="3708">
          <p15:clr>
            <a:srgbClr val="FA7B17"/>
          </p15:clr>
        </p15:guide>
        <p15:guide id="14" pos="3984">
          <p15:clr>
            <a:srgbClr val="FA7B17"/>
          </p15:clr>
        </p15:guide>
        <p15:guide id="15" pos="4261">
          <p15:clr>
            <a:srgbClr val="FA7B17"/>
          </p15:clr>
        </p15:guide>
        <p15:guide id="16" pos="4537">
          <p15:clr>
            <a:srgbClr val="FA7B17"/>
          </p15:clr>
        </p15:guide>
        <p15:guide id="17" pos="4814">
          <p15:clr>
            <a:srgbClr val="FA7B17"/>
          </p15:clr>
        </p15:guide>
        <p15:guide id="18" pos="5090">
          <p15:clr>
            <a:srgbClr val="FA7B17"/>
          </p15:clr>
        </p15:guide>
        <p15:guide id="19" pos="5367">
          <p15:clr>
            <a:srgbClr val="FA7B17"/>
          </p15:clr>
        </p15:guide>
        <p15:guide id="20" orient="horz" pos="388">
          <p15:clr>
            <a:srgbClr val="FA7B17"/>
          </p15:clr>
        </p15:guide>
        <p15:guide id="21" orient="horz" pos="204">
          <p15:clr>
            <a:srgbClr val="FA7B17"/>
          </p15:clr>
        </p15:guide>
        <p15:guide id="22" orient="horz" pos="2795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BF9580-5EA4-EE8F-E75C-2C85F43B5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919827-C5E1-CFB8-B8D3-076435A24C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5069B-3638-17F0-4D98-5125421B4D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B44E9D-BDE2-4863-859B-83B085A0520B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602FDD-4949-98F7-D052-F8AC9960E1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17522-46C5-3CA9-889D-86843259D9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0A3F26-7B60-4687-8CC9-4A2B9F1420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453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7D480-80B4-7E59-5874-451606A1E2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MongoDB Basics</a:t>
            </a:r>
          </a:p>
        </p:txBody>
      </p:sp>
    </p:spTree>
    <p:extLst>
      <p:ext uri="{BB962C8B-B14F-4D97-AF65-F5344CB8AC3E}">
        <p14:creationId xmlns:p14="http://schemas.microsoft.com/office/powerpoint/2010/main" val="1434146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2FDBA-355F-CFE6-F0EA-FCFA5341A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Relational vs Non-Relational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21D54-7A72-870D-5571-B90246632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1389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2450;p169">
            <a:extLst>
              <a:ext uri="{FF2B5EF4-FFF2-40B4-BE49-F238E27FC236}">
                <a16:creationId xmlns:a16="http://schemas.microsoft.com/office/drawing/2014/main" id="{F01C0AFC-3E3B-F52F-468F-2FFAD11100A9}"/>
              </a:ext>
            </a:extLst>
          </p:cNvPr>
          <p:cNvSpPr txBox="1"/>
          <p:nvPr/>
        </p:nvSpPr>
        <p:spPr>
          <a:xfrm>
            <a:off x="7515100" y="4003968"/>
            <a:ext cx="34744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600" dirty="0">
                <a:solidFill>
                  <a:schemeClr val="dk1"/>
                </a:solidFill>
                <a:ea typeface="Lexend Deca Light"/>
                <a:cs typeface="Lexend Deca Light"/>
                <a:sym typeface="Lexend Deca Light"/>
              </a:rPr>
              <a:t>A table uses columns to define the information being stored and rows for the actual data. </a:t>
            </a:r>
            <a:endParaRPr sz="2400" dirty="0"/>
          </a:p>
        </p:txBody>
      </p:sp>
      <p:sp>
        <p:nvSpPr>
          <p:cNvPr id="14" name="Google Shape;2451;p169">
            <a:extLst>
              <a:ext uri="{FF2B5EF4-FFF2-40B4-BE49-F238E27FC236}">
                <a16:creationId xmlns:a16="http://schemas.microsoft.com/office/drawing/2014/main" id="{058FF298-5B87-3216-F623-6C035C5973C8}"/>
              </a:ext>
            </a:extLst>
          </p:cNvPr>
          <p:cNvSpPr txBox="1">
            <a:spLocks/>
          </p:cNvSpPr>
          <p:nvPr/>
        </p:nvSpPr>
        <p:spPr>
          <a:xfrm>
            <a:off x="830300" y="821000"/>
            <a:ext cx="9943600" cy="6156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800" dirty="0"/>
              <a:t>Relational Model: Data structure</a:t>
            </a:r>
            <a:endParaRPr lang="en-GB" dirty="0"/>
          </a:p>
        </p:txBody>
      </p:sp>
      <p:sp>
        <p:nvSpPr>
          <p:cNvPr id="15" name="Google Shape;2452;p169">
            <a:extLst>
              <a:ext uri="{FF2B5EF4-FFF2-40B4-BE49-F238E27FC236}">
                <a16:creationId xmlns:a16="http://schemas.microsoft.com/office/drawing/2014/main" id="{87E7EEF5-9F92-CFB7-E820-9408A0587643}"/>
              </a:ext>
            </a:extLst>
          </p:cNvPr>
          <p:cNvSpPr txBox="1">
            <a:spLocks/>
          </p:cNvSpPr>
          <p:nvPr/>
        </p:nvSpPr>
        <p:spPr>
          <a:xfrm>
            <a:off x="1132400" y="1956133"/>
            <a:ext cx="4374800" cy="5020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GB" dirty="0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16" name="Google Shape;2453;p169">
            <a:extLst>
              <a:ext uri="{FF2B5EF4-FFF2-40B4-BE49-F238E27FC236}">
                <a16:creationId xmlns:a16="http://schemas.microsoft.com/office/drawing/2014/main" id="{9BBA8B77-B1B5-24B9-AFA3-8D99ACD640E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41185" y="2791251"/>
            <a:ext cx="1157300" cy="11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2454;p169">
            <a:extLst>
              <a:ext uri="{FF2B5EF4-FFF2-40B4-BE49-F238E27FC236}">
                <a16:creationId xmlns:a16="http://schemas.microsoft.com/office/drawing/2014/main" id="{C96E4429-0E88-C035-54C6-BC96843AFF5B}"/>
              </a:ext>
            </a:extLst>
          </p:cNvPr>
          <p:cNvSpPr txBox="1"/>
          <p:nvPr/>
        </p:nvSpPr>
        <p:spPr>
          <a:xfrm>
            <a:off x="733333" y="3948534"/>
            <a:ext cx="280920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600" dirty="0">
                <a:solidFill>
                  <a:schemeClr val="dk1"/>
                </a:solidFill>
                <a:ea typeface="Lexend Deca Light"/>
                <a:cs typeface="Lexend Deca Light"/>
                <a:sym typeface="Lexend Deca Light"/>
              </a:rPr>
              <a:t>Related data is stored in rows and columns in one table.</a:t>
            </a:r>
            <a:endParaRPr sz="2400" dirty="0"/>
          </a:p>
        </p:txBody>
      </p:sp>
      <p:sp>
        <p:nvSpPr>
          <p:cNvPr id="18" name="Google Shape;2455;p169">
            <a:extLst>
              <a:ext uri="{FF2B5EF4-FFF2-40B4-BE49-F238E27FC236}">
                <a16:creationId xmlns:a16="http://schemas.microsoft.com/office/drawing/2014/main" id="{6A628073-5B21-58E0-B552-AE7B250BAEC7}"/>
              </a:ext>
            </a:extLst>
          </p:cNvPr>
          <p:cNvSpPr txBox="1"/>
          <p:nvPr/>
        </p:nvSpPr>
        <p:spPr>
          <a:xfrm>
            <a:off x="4212933" y="4071733"/>
            <a:ext cx="280920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600" dirty="0">
                <a:solidFill>
                  <a:schemeClr val="dk1"/>
                </a:solidFill>
                <a:ea typeface="Lexend Deca Light"/>
                <a:cs typeface="Lexend Deca Light"/>
                <a:sym typeface="Lexend Deca Light"/>
              </a:rPr>
              <a:t>SQL (Structured Query Language)</a:t>
            </a:r>
            <a:endParaRPr sz="2400" dirty="0"/>
          </a:p>
        </p:txBody>
      </p:sp>
      <p:pic>
        <p:nvPicPr>
          <p:cNvPr id="19" name="Google Shape;2456;p169">
            <a:extLst>
              <a:ext uri="{FF2B5EF4-FFF2-40B4-BE49-F238E27FC236}">
                <a16:creationId xmlns:a16="http://schemas.microsoft.com/office/drawing/2014/main" id="{C376EDAD-FFC0-F819-6B53-C00E1090856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9201" y="2553985"/>
            <a:ext cx="1342633" cy="1342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457;p169">
            <a:extLst>
              <a:ext uri="{FF2B5EF4-FFF2-40B4-BE49-F238E27FC236}">
                <a16:creationId xmlns:a16="http://schemas.microsoft.com/office/drawing/2014/main" id="{AA5C1E03-263F-1973-B5BE-96B84C767C4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9234" y="2698582"/>
            <a:ext cx="1342633" cy="13426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9048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2451;p169">
            <a:extLst>
              <a:ext uri="{FF2B5EF4-FFF2-40B4-BE49-F238E27FC236}">
                <a16:creationId xmlns:a16="http://schemas.microsoft.com/office/drawing/2014/main" id="{058FF298-5B87-3216-F623-6C035C5973C8}"/>
              </a:ext>
            </a:extLst>
          </p:cNvPr>
          <p:cNvSpPr txBox="1">
            <a:spLocks/>
          </p:cNvSpPr>
          <p:nvPr/>
        </p:nvSpPr>
        <p:spPr>
          <a:xfrm>
            <a:off x="830300" y="821000"/>
            <a:ext cx="9943600" cy="6156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800" dirty="0"/>
              <a:t>Relational Model: Scaling</a:t>
            </a:r>
            <a:endParaRPr lang="en-GB" dirty="0"/>
          </a:p>
        </p:txBody>
      </p:sp>
      <p:sp>
        <p:nvSpPr>
          <p:cNvPr id="15" name="Google Shape;2452;p169">
            <a:extLst>
              <a:ext uri="{FF2B5EF4-FFF2-40B4-BE49-F238E27FC236}">
                <a16:creationId xmlns:a16="http://schemas.microsoft.com/office/drawing/2014/main" id="{87E7EEF5-9F92-CFB7-E820-9408A0587643}"/>
              </a:ext>
            </a:extLst>
          </p:cNvPr>
          <p:cNvSpPr txBox="1">
            <a:spLocks/>
          </p:cNvSpPr>
          <p:nvPr/>
        </p:nvSpPr>
        <p:spPr>
          <a:xfrm>
            <a:off x="951425" y="1696366"/>
            <a:ext cx="4374800" cy="5020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GB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3D3F4C-B07D-F97C-F3F9-5ED9D17827D1}"/>
              </a:ext>
            </a:extLst>
          </p:cNvPr>
          <p:cNvSpPr txBox="1"/>
          <p:nvPr/>
        </p:nvSpPr>
        <p:spPr>
          <a:xfrm>
            <a:off x="5507199" y="2458133"/>
            <a:ext cx="42178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Vertical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Add more CPUs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Add more 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Add more Disk space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88B271B-BD36-EA36-51A0-4188F0438D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734"/>
          <a:stretch/>
        </p:blipFill>
        <p:spPr bwMode="auto">
          <a:xfrm>
            <a:off x="590550" y="2325465"/>
            <a:ext cx="3933825" cy="3903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4555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2451;p169">
            <a:extLst>
              <a:ext uri="{FF2B5EF4-FFF2-40B4-BE49-F238E27FC236}">
                <a16:creationId xmlns:a16="http://schemas.microsoft.com/office/drawing/2014/main" id="{058FF298-5B87-3216-F623-6C035C5973C8}"/>
              </a:ext>
            </a:extLst>
          </p:cNvPr>
          <p:cNvSpPr txBox="1">
            <a:spLocks/>
          </p:cNvSpPr>
          <p:nvPr/>
        </p:nvSpPr>
        <p:spPr>
          <a:xfrm>
            <a:off x="830300" y="821000"/>
            <a:ext cx="9943600" cy="6156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800" dirty="0"/>
              <a:t>Relational Model: Sharding</a:t>
            </a:r>
            <a:endParaRPr lang="en-GB" dirty="0"/>
          </a:p>
        </p:txBody>
      </p:sp>
      <p:sp>
        <p:nvSpPr>
          <p:cNvPr id="15" name="Google Shape;2452;p169">
            <a:extLst>
              <a:ext uri="{FF2B5EF4-FFF2-40B4-BE49-F238E27FC236}">
                <a16:creationId xmlns:a16="http://schemas.microsoft.com/office/drawing/2014/main" id="{87E7EEF5-9F92-CFB7-E820-9408A0587643}"/>
              </a:ext>
            </a:extLst>
          </p:cNvPr>
          <p:cNvSpPr txBox="1">
            <a:spLocks/>
          </p:cNvSpPr>
          <p:nvPr/>
        </p:nvSpPr>
        <p:spPr>
          <a:xfrm>
            <a:off x="1132400" y="1956133"/>
            <a:ext cx="4374800" cy="5020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GB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3D3F4C-B07D-F97C-F3F9-5ED9D17827D1}"/>
              </a:ext>
            </a:extLst>
          </p:cNvPr>
          <p:cNvSpPr txBox="1"/>
          <p:nvPr/>
        </p:nvSpPr>
        <p:spPr>
          <a:xfrm>
            <a:off x="5949094" y="1800908"/>
            <a:ext cx="570802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A technique for Horizontal scaling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Distribute the Data across multiple smaller databases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Different patterns to split data (range based, date based, hash based, etc..)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Challenge: to keep the data evenly distributed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AADB959-0FD3-0DE8-59C3-E72FDE7FD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879" y="2201116"/>
            <a:ext cx="4816694" cy="272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140C6720-03A6-C742-A142-30C16A14CCA3}"/>
              </a:ext>
            </a:extLst>
          </p:cNvPr>
          <p:cNvGrpSpPr/>
          <p:nvPr/>
        </p:nvGrpSpPr>
        <p:grpSpPr>
          <a:xfrm>
            <a:off x="904875" y="2201116"/>
            <a:ext cx="1019175" cy="1151684"/>
            <a:chOff x="581025" y="5557975"/>
            <a:chExt cx="714375" cy="842825"/>
          </a:xfrm>
        </p:grpSpPr>
        <p:sp>
          <p:nvSpPr>
            <p:cNvPr id="2" name="Flowchart: Magnetic Disk 1">
              <a:extLst>
                <a:ext uri="{FF2B5EF4-FFF2-40B4-BE49-F238E27FC236}">
                  <a16:creationId xmlns:a16="http://schemas.microsoft.com/office/drawing/2014/main" id="{E660AE84-506E-B31B-F533-2CCB808BEC4E}"/>
                </a:ext>
              </a:extLst>
            </p:cNvPr>
            <p:cNvSpPr/>
            <p:nvPr/>
          </p:nvSpPr>
          <p:spPr>
            <a:xfrm>
              <a:off x="581025" y="6037000"/>
              <a:ext cx="714375" cy="363800"/>
            </a:xfrm>
            <a:prstGeom prst="flowChartMagneticDisk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" name="Flowchart: Magnetic Disk 2">
              <a:extLst>
                <a:ext uri="{FF2B5EF4-FFF2-40B4-BE49-F238E27FC236}">
                  <a16:creationId xmlns:a16="http://schemas.microsoft.com/office/drawing/2014/main" id="{32B93D62-6C7E-A2FB-9220-FA3585B9F21B}"/>
                </a:ext>
              </a:extLst>
            </p:cNvPr>
            <p:cNvSpPr/>
            <p:nvPr/>
          </p:nvSpPr>
          <p:spPr>
            <a:xfrm>
              <a:off x="581025" y="5806550"/>
              <a:ext cx="714375" cy="363800"/>
            </a:xfrm>
            <a:prstGeom prst="flowChartMagneticDisk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" name="Flowchart: Magnetic Disk 3">
              <a:extLst>
                <a:ext uri="{FF2B5EF4-FFF2-40B4-BE49-F238E27FC236}">
                  <a16:creationId xmlns:a16="http://schemas.microsoft.com/office/drawing/2014/main" id="{B1B58C9A-4FFC-CC94-B793-C72041B277C9}"/>
                </a:ext>
              </a:extLst>
            </p:cNvPr>
            <p:cNvSpPr/>
            <p:nvPr/>
          </p:nvSpPr>
          <p:spPr>
            <a:xfrm>
              <a:off x="581025" y="5557975"/>
              <a:ext cx="714375" cy="363800"/>
            </a:xfrm>
            <a:prstGeom prst="flowChartMagneticDisk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CA5180B-32D1-B49E-D9B9-A06A602D2B33}"/>
              </a:ext>
            </a:extLst>
          </p:cNvPr>
          <p:cNvGrpSpPr/>
          <p:nvPr/>
        </p:nvGrpSpPr>
        <p:grpSpPr>
          <a:xfrm>
            <a:off x="877606" y="5170249"/>
            <a:ext cx="509588" cy="624175"/>
            <a:chOff x="581025" y="5557975"/>
            <a:chExt cx="714375" cy="842825"/>
          </a:xfrm>
        </p:grpSpPr>
        <p:sp>
          <p:nvSpPr>
            <p:cNvPr id="8" name="Flowchart: Magnetic Disk 7">
              <a:extLst>
                <a:ext uri="{FF2B5EF4-FFF2-40B4-BE49-F238E27FC236}">
                  <a16:creationId xmlns:a16="http://schemas.microsoft.com/office/drawing/2014/main" id="{16ED10C2-228F-5F49-5B6C-C6AA918C405D}"/>
                </a:ext>
              </a:extLst>
            </p:cNvPr>
            <p:cNvSpPr/>
            <p:nvPr/>
          </p:nvSpPr>
          <p:spPr>
            <a:xfrm>
              <a:off x="581025" y="6037000"/>
              <a:ext cx="714375" cy="363800"/>
            </a:xfrm>
            <a:prstGeom prst="flowChartMagneticDisk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Flowchart: Magnetic Disk 8">
              <a:extLst>
                <a:ext uri="{FF2B5EF4-FFF2-40B4-BE49-F238E27FC236}">
                  <a16:creationId xmlns:a16="http://schemas.microsoft.com/office/drawing/2014/main" id="{5A3969DC-8202-94CC-C37F-FD5AACBF94F8}"/>
                </a:ext>
              </a:extLst>
            </p:cNvPr>
            <p:cNvSpPr/>
            <p:nvPr/>
          </p:nvSpPr>
          <p:spPr>
            <a:xfrm>
              <a:off x="581025" y="5806550"/>
              <a:ext cx="714375" cy="363800"/>
            </a:xfrm>
            <a:prstGeom prst="flowChartMagneticDisk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Flowchart: Magnetic Disk 9">
              <a:extLst>
                <a:ext uri="{FF2B5EF4-FFF2-40B4-BE49-F238E27FC236}">
                  <a16:creationId xmlns:a16="http://schemas.microsoft.com/office/drawing/2014/main" id="{4C43D25E-8362-53F5-DE44-F7E70244C920}"/>
                </a:ext>
              </a:extLst>
            </p:cNvPr>
            <p:cNvSpPr/>
            <p:nvPr/>
          </p:nvSpPr>
          <p:spPr>
            <a:xfrm>
              <a:off x="581025" y="5557975"/>
              <a:ext cx="714375" cy="363800"/>
            </a:xfrm>
            <a:prstGeom prst="flowChartMagneticDisk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8F307C0-3C70-4F55-EC76-57B41A666A7F}"/>
              </a:ext>
            </a:extLst>
          </p:cNvPr>
          <p:cNvGrpSpPr/>
          <p:nvPr/>
        </p:nvGrpSpPr>
        <p:grpSpPr>
          <a:xfrm>
            <a:off x="2688432" y="5212915"/>
            <a:ext cx="509588" cy="624175"/>
            <a:chOff x="581025" y="5557975"/>
            <a:chExt cx="714375" cy="842825"/>
          </a:xfrm>
        </p:grpSpPr>
        <p:sp>
          <p:nvSpPr>
            <p:cNvPr id="12" name="Flowchart: Magnetic Disk 11">
              <a:extLst>
                <a:ext uri="{FF2B5EF4-FFF2-40B4-BE49-F238E27FC236}">
                  <a16:creationId xmlns:a16="http://schemas.microsoft.com/office/drawing/2014/main" id="{B8E8EC5B-1720-5F8D-BEB7-4C1AA378BE79}"/>
                </a:ext>
              </a:extLst>
            </p:cNvPr>
            <p:cNvSpPr/>
            <p:nvPr/>
          </p:nvSpPr>
          <p:spPr>
            <a:xfrm>
              <a:off x="581025" y="6037000"/>
              <a:ext cx="714375" cy="363800"/>
            </a:xfrm>
            <a:prstGeom prst="flowChartMagneticDisk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Flowchart: Magnetic Disk 12">
              <a:extLst>
                <a:ext uri="{FF2B5EF4-FFF2-40B4-BE49-F238E27FC236}">
                  <a16:creationId xmlns:a16="http://schemas.microsoft.com/office/drawing/2014/main" id="{D2ACB911-54C0-99A2-A447-ED0D916D563F}"/>
                </a:ext>
              </a:extLst>
            </p:cNvPr>
            <p:cNvSpPr/>
            <p:nvPr/>
          </p:nvSpPr>
          <p:spPr>
            <a:xfrm>
              <a:off x="581025" y="5806550"/>
              <a:ext cx="714375" cy="363800"/>
            </a:xfrm>
            <a:prstGeom prst="flowChartMagneticDisk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Flowchart: Magnetic Disk 15">
              <a:extLst>
                <a:ext uri="{FF2B5EF4-FFF2-40B4-BE49-F238E27FC236}">
                  <a16:creationId xmlns:a16="http://schemas.microsoft.com/office/drawing/2014/main" id="{FD991A0E-3D54-F5E0-B351-B4BC5557A51A}"/>
                </a:ext>
              </a:extLst>
            </p:cNvPr>
            <p:cNvSpPr/>
            <p:nvPr/>
          </p:nvSpPr>
          <p:spPr>
            <a:xfrm>
              <a:off x="581025" y="5557975"/>
              <a:ext cx="714375" cy="363800"/>
            </a:xfrm>
            <a:prstGeom prst="flowChartMagneticDisk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9A81C5E-AF77-B20D-7BF9-441C12EE1BB3}"/>
              </a:ext>
            </a:extLst>
          </p:cNvPr>
          <p:cNvGrpSpPr/>
          <p:nvPr/>
        </p:nvGrpSpPr>
        <p:grpSpPr>
          <a:xfrm>
            <a:off x="4495802" y="5211143"/>
            <a:ext cx="509588" cy="624175"/>
            <a:chOff x="581025" y="5557975"/>
            <a:chExt cx="714375" cy="842825"/>
          </a:xfrm>
        </p:grpSpPr>
        <p:sp>
          <p:nvSpPr>
            <p:cNvPr id="18" name="Flowchart: Magnetic Disk 17">
              <a:extLst>
                <a:ext uri="{FF2B5EF4-FFF2-40B4-BE49-F238E27FC236}">
                  <a16:creationId xmlns:a16="http://schemas.microsoft.com/office/drawing/2014/main" id="{C9718568-3AC0-769F-0C2A-C529C4DE0924}"/>
                </a:ext>
              </a:extLst>
            </p:cNvPr>
            <p:cNvSpPr/>
            <p:nvPr/>
          </p:nvSpPr>
          <p:spPr>
            <a:xfrm>
              <a:off x="581025" y="6037000"/>
              <a:ext cx="714375" cy="363800"/>
            </a:xfrm>
            <a:prstGeom prst="flowChartMagneticDisk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Flowchart: Magnetic Disk 18">
              <a:extLst>
                <a:ext uri="{FF2B5EF4-FFF2-40B4-BE49-F238E27FC236}">
                  <a16:creationId xmlns:a16="http://schemas.microsoft.com/office/drawing/2014/main" id="{3DD8DFF6-06EB-0F24-E306-CB47AD4154EE}"/>
                </a:ext>
              </a:extLst>
            </p:cNvPr>
            <p:cNvSpPr/>
            <p:nvPr/>
          </p:nvSpPr>
          <p:spPr>
            <a:xfrm>
              <a:off x="581025" y="5806550"/>
              <a:ext cx="714375" cy="363800"/>
            </a:xfrm>
            <a:prstGeom prst="flowChartMagneticDisk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Flowchart: Magnetic Disk 19">
              <a:extLst>
                <a:ext uri="{FF2B5EF4-FFF2-40B4-BE49-F238E27FC236}">
                  <a16:creationId xmlns:a16="http://schemas.microsoft.com/office/drawing/2014/main" id="{E4589E9E-8131-02F3-A467-7DD8580D5D31}"/>
                </a:ext>
              </a:extLst>
            </p:cNvPr>
            <p:cNvSpPr/>
            <p:nvPr/>
          </p:nvSpPr>
          <p:spPr>
            <a:xfrm>
              <a:off x="581025" y="5557975"/>
              <a:ext cx="714375" cy="363800"/>
            </a:xfrm>
            <a:prstGeom prst="flowChartMagneticDisk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34133BC-6E39-E5AB-494E-7CB56C1ACFE5}"/>
              </a:ext>
            </a:extLst>
          </p:cNvPr>
          <p:cNvSpPr txBox="1"/>
          <p:nvPr/>
        </p:nvSpPr>
        <p:spPr>
          <a:xfrm>
            <a:off x="776025" y="6037000"/>
            <a:ext cx="71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DB1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36135F-14AE-1F20-E780-CDAF5F369798}"/>
              </a:ext>
            </a:extLst>
          </p:cNvPr>
          <p:cNvSpPr txBox="1"/>
          <p:nvPr/>
        </p:nvSpPr>
        <p:spPr>
          <a:xfrm>
            <a:off x="2607050" y="6037000"/>
            <a:ext cx="71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DB2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B0AF52-212D-E1F9-A77C-35AF3A2D2023}"/>
              </a:ext>
            </a:extLst>
          </p:cNvPr>
          <p:cNvSpPr txBox="1"/>
          <p:nvPr/>
        </p:nvSpPr>
        <p:spPr>
          <a:xfrm>
            <a:off x="4394221" y="6037000"/>
            <a:ext cx="71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DB3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177710-68B1-2FB4-EBB9-BB10C5928293}"/>
              </a:ext>
            </a:extLst>
          </p:cNvPr>
          <p:cNvSpPr txBox="1"/>
          <p:nvPr/>
        </p:nvSpPr>
        <p:spPr>
          <a:xfrm>
            <a:off x="1132400" y="3425192"/>
            <a:ext cx="71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DB</a:t>
            </a:r>
          </a:p>
        </p:txBody>
      </p:sp>
    </p:spTree>
    <p:extLst>
      <p:ext uri="{BB962C8B-B14F-4D97-AF65-F5344CB8AC3E}">
        <p14:creationId xmlns:p14="http://schemas.microsoft.com/office/powerpoint/2010/main" val="3318029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309BA76-E4FB-050C-659B-DC925767F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Non-Relational Model</a:t>
            </a:r>
          </a:p>
        </p:txBody>
      </p:sp>
    </p:spTree>
    <p:extLst>
      <p:ext uri="{BB962C8B-B14F-4D97-AF65-F5344CB8AC3E}">
        <p14:creationId xmlns:p14="http://schemas.microsoft.com/office/powerpoint/2010/main" val="515459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19CD3-C084-94EB-42D1-0EC948B46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Non-Relational Model: Data structure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DE22875-47EE-B24E-FA83-5C19FAE56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016125"/>
            <a:ext cx="3362325" cy="336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663E07-623C-8C20-04F2-F7575BEB4081}"/>
              </a:ext>
            </a:extLst>
          </p:cNvPr>
          <p:cNvSpPr txBox="1"/>
          <p:nvPr/>
        </p:nvSpPr>
        <p:spPr>
          <a:xfrm>
            <a:off x="5114925" y="2016125"/>
            <a:ext cx="50577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latin typeface="Lexend Deca Light"/>
                <a:ea typeface="Lexend Deca Light"/>
                <a:cs typeface="Lexend Deca Light"/>
                <a:sym typeface="Lexend Deca Light"/>
              </a:rPr>
              <a:t>Polymorphic data structures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latin typeface="Lexend Deca Light"/>
                <a:ea typeface="Lexend Deca Light"/>
                <a:cs typeface="Lexend Deca Light"/>
                <a:sym typeface="Lexend Deca Light"/>
              </a:rPr>
              <a:t>Flexible schemas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latin typeface="Lexend Deca Light"/>
                <a:ea typeface="Lexend Deca Light"/>
                <a:cs typeface="Lexend Deca Light"/>
                <a:sym typeface="Lexend Deca Light"/>
              </a:rPr>
              <a:t>Easy to scale large workloads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0216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2451;p169">
            <a:extLst>
              <a:ext uri="{FF2B5EF4-FFF2-40B4-BE49-F238E27FC236}">
                <a16:creationId xmlns:a16="http://schemas.microsoft.com/office/drawing/2014/main" id="{058FF298-5B87-3216-F623-6C035C5973C8}"/>
              </a:ext>
            </a:extLst>
          </p:cNvPr>
          <p:cNvSpPr txBox="1">
            <a:spLocks/>
          </p:cNvSpPr>
          <p:nvPr/>
        </p:nvSpPr>
        <p:spPr>
          <a:xfrm>
            <a:off x="830300" y="821000"/>
            <a:ext cx="9943600" cy="6156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800" dirty="0"/>
              <a:t>Non-Relational Model: Scaling</a:t>
            </a:r>
            <a:endParaRPr lang="en-GB" dirty="0"/>
          </a:p>
        </p:txBody>
      </p:sp>
      <p:sp>
        <p:nvSpPr>
          <p:cNvPr id="15" name="Google Shape;2452;p169">
            <a:extLst>
              <a:ext uri="{FF2B5EF4-FFF2-40B4-BE49-F238E27FC236}">
                <a16:creationId xmlns:a16="http://schemas.microsoft.com/office/drawing/2014/main" id="{87E7EEF5-9F92-CFB7-E820-9408A0587643}"/>
              </a:ext>
            </a:extLst>
          </p:cNvPr>
          <p:cNvSpPr txBox="1">
            <a:spLocks/>
          </p:cNvSpPr>
          <p:nvPr/>
        </p:nvSpPr>
        <p:spPr>
          <a:xfrm>
            <a:off x="1132400" y="1956133"/>
            <a:ext cx="4374800" cy="5020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GB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3D3F4C-B07D-F97C-F3F9-5ED9D17827D1}"/>
              </a:ext>
            </a:extLst>
          </p:cNvPr>
          <p:cNvSpPr txBox="1"/>
          <p:nvPr/>
        </p:nvSpPr>
        <p:spPr>
          <a:xfrm>
            <a:off x="830300" y="4677342"/>
            <a:ext cx="88947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Horizontal Scaling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Add more machines/instances to distribute the load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A085192-9629-940A-B952-2E482ED5C0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62"/>
          <a:stretch/>
        </p:blipFill>
        <p:spPr bwMode="auto">
          <a:xfrm>
            <a:off x="186611" y="418356"/>
            <a:ext cx="7338139" cy="3855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9292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2451;p169">
            <a:extLst>
              <a:ext uri="{FF2B5EF4-FFF2-40B4-BE49-F238E27FC236}">
                <a16:creationId xmlns:a16="http://schemas.microsoft.com/office/drawing/2014/main" id="{058FF298-5B87-3216-F623-6C035C5973C8}"/>
              </a:ext>
            </a:extLst>
          </p:cNvPr>
          <p:cNvSpPr txBox="1">
            <a:spLocks/>
          </p:cNvSpPr>
          <p:nvPr/>
        </p:nvSpPr>
        <p:spPr>
          <a:xfrm>
            <a:off x="830300" y="821000"/>
            <a:ext cx="9943600" cy="6156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800" dirty="0"/>
              <a:t>Non-Relational Model: Sharding</a:t>
            </a:r>
            <a:endParaRPr lang="en-GB" sz="2000" dirty="0"/>
          </a:p>
        </p:txBody>
      </p:sp>
      <p:sp>
        <p:nvSpPr>
          <p:cNvPr id="15" name="Google Shape;2452;p169">
            <a:extLst>
              <a:ext uri="{FF2B5EF4-FFF2-40B4-BE49-F238E27FC236}">
                <a16:creationId xmlns:a16="http://schemas.microsoft.com/office/drawing/2014/main" id="{87E7EEF5-9F92-CFB7-E820-9408A0587643}"/>
              </a:ext>
            </a:extLst>
          </p:cNvPr>
          <p:cNvSpPr txBox="1">
            <a:spLocks/>
          </p:cNvSpPr>
          <p:nvPr/>
        </p:nvSpPr>
        <p:spPr>
          <a:xfrm>
            <a:off x="1132400" y="1956133"/>
            <a:ext cx="4374800" cy="5020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GB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3D3F4C-B07D-F97C-F3F9-5ED9D17827D1}"/>
              </a:ext>
            </a:extLst>
          </p:cNvPr>
          <p:cNvSpPr txBox="1"/>
          <p:nvPr/>
        </p:nvSpPr>
        <p:spPr>
          <a:xfrm>
            <a:off x="830300" y="1781858"/>
            <a:ext cx="83708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Concept is the same as in Relational model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Sharding is part of the architecture of NoSQL</a:t>
            </a:r>
          </a:p>
        </p:txBody>
      </p:sp>
    </p:spTree>
    <p:extLst>
      <p:ext uri="{BB962C8B-B14F-4D97-AF65-F5344CB8AC3E}">
        <p14:creationId xmlns:p14="http://schemas.microsoft.com/office/powerpoint/2010/main" val="3116847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309BA76-E4FB-050C-659B-DC925767F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MongoDB</a:t>
            </a:r>
          </a:p>
        </p:txBody>
      </p:sp>
    </p:spTree>
    <p:extLst>
      <p:ext uri="{BB962C8B-B14F-4D97-AF65-F5344CB8AC3E}">
        <p14:creationId xmlns:p14="http://schemas.microsoft.com/office/powerpoint/2010/main" val="3564365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5D62B-DA6C-CC7E-64D9-9672E6D25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Document based</a:t>
            </a:r>
          </a:p>
          <a:p>
            <a:r>
              <a:rPr lang="en-GB" dirty="0"/>
              <a:t>JSON based documents (BSON)</a:t>
            </a:r>
          </a:p>
          <a:p>
            <a:r>
              <a:rPr lang="en-GB" dirty="0"/>
              <a:t>Flexible document structure</a:t>
            </a:r>
          </a:p>
          <a:p>
            <a:r>
              <a:rPr lang="en-GB" dirty="0"/>
              <a:t>Horizontal scaling by design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15DF565-B6D2-7DA6-1514-A908FB6FB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MongoDB</a:t>
            </a:r>
          </a:p>
        </p:txBody>
      </p:sp>
    </p:spTree>
    <p:extLst>
      <p:ext uri="{BB962C8B-B14F-4D97-AF65-F5344CB8AC3E}">
        <p14:creationId xmlns:p14="http://schemas.microsoft.com/office/powerpoint/2010/main" val="600932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FFFBB-3B18-F8C4-981D-66E1DF2DE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Document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41847D-2D0B-DC28-758C-46E0C2FE5C4C}"/>
              </a:ext>
            </a:extLst>
          </p:cNvPr>
          <p:cNvSpPr txBox="1"/>
          <p:nvPr/>
        </p:nvSpPr>
        <p:spPr>
          <a:xfrm>
            <a:off x="838200" y="2116515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"_id"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GB" b="0" dirty="0" err="1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ObjectId</a:t>
            </a:r>
            <a:r>
              <a:rPr lang="en-GB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"607f1f77bcf86cd799439011"</a:t>
            </a:r>
            <a:r>
              <a:rPr lang="en-GB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"Ivan Petrov"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"age"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GB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32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"email"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"ivan.petrov@example.com"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"address"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"street"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"Tsar Boris III N61"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"city"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"Sofia"</a:t>
            </a:r>
            <a:endParaRPr lang="en-GB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},</a:t>
            </a:r>
          </a:p>
          <a:p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favouriteSports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 [</a:t>
            </a: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"Cycling"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"Running"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0C7476-12B0-1EFF-DA4E-E29A8D53D468}"/>
              </a:ext>
            </a:extLst>
          </p:cNvPr>
          <p:cNvSpPr txBox="1"/>
          <p:nvPr/>
        </p:nvSpPr>
        <p:spPr>
          <a:xfrm>
            <a:off x="7620000" y="2116515"/>
            <a:ext cx="4673074" cy="17338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 fontAlgn="base">
              <a:spcBef>
                <a:spcPts val="1000"/>
              </a:spcBef>
              <a:spcAft>
                <a:spcPts val="0"/>
              </a:spcAft>
            </a:pPr>
            <a:r>
              <a:rPr lang="en-GB" sz="1800" b="0" i="0" u="none" strike="noStrike" dirty="0">
                <a:solidFill>
                  <a:srgbClr val="001E2B"/>
                </a:solidFill>
                <a:effectLst/>
                <a:latin typeface="Lexend Deca" panose="020B0604020202020204" charset="0"/>
              </a:rPr>
              <a:t>JSON-based; Stored as BSON (binary </a:t>
            </a:r>
            <a:r>
              <a:rPr lang="en-GB" sz="1800" b="0" i="0" u="none" strike="noStrike" dirty="0" err="1">
                <a:solidFill>
                  <a:srgbClr val="001E2B"/>
                </a:solidFill>
                <a:effectLst/>
                <a:latin typeface="Lexend Deca" panose="020B0604020202020204" charset="0"/>
              </a:rPr>
              <a:t>json</a:t>
            </a:r>
            <a:r>
              <a:rPr lang="en-GB" sz="1800" b="0" i="0" u="none" strike="noStrike" dirty="0">
                <a:solidFill>
                  <a:srgbClr val="001E2B"/>
                </a:solidFill>
                <a:effectLst/>
                <a:latin typeface="Lexend Deca" panose="020B0604020202020204" charset="0"/>
              </a:rPr>
              <a:t>)</a:t>
            </a:r>
          </a:p>
          <a:p>
            <a:pPr rtl="0" fontAlgn="base">
              <a:spcBef>
                <a:spcPts val="1000"/>
              </a:spcBef>
              <a:spcAft>
                <a:spcPts val="0"/>
              </a:spcAft>
            </a:pPr>
            <a:r>
              <a:rPr lang="en-GB" sz="1800" b="0" i="0" u="none" strike="noStrike" dirty="0">
                <a:solidFill>
                  <a:srgbClr val="001E2B"/>
                </a:solidFill>
                <a:effectLst/>
                <a:latin typeface="Lexend Deca" panose="020B0604020202020204" charset="0"/>
              </a:rPr>
              <a:t>Consists of:</a:t>
            </a:r>
          </a:p>
          <a:p>
            <a:pPr marL="285750" indent="-285750" rtl="0" fontAlgn="base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b="0" i="0" u="none" strike="noStrike" dirty="0">
                <a:solidFill>
                  <a:srgbClr val="001E2B"/>
                </a:solidFill>
                <a:effectLst/>
                <a:latin typeface="Lexend Deca" panose="020B0604020202020204" charset="0"/>
              </a:rPr>
              <a:t>Fields (Attributes)</a:t>
            </a:r>
          </a:p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b="0" i="0" u="none" strike="noStrike" dirty="0">
                <a:solidFill>
                  <a:srgbClr val="001E2B"/>
                </a:solidFill>
                <a:effectLst/>
                <a:latin typeface="Lexend Deca" panose="020B0604020202020204" charset="0"/>
              </a:rPr>
              <a:t>Sub-documents (Objects)</a:t>
            </a:r>
          </a:p>
          <a:p>
            <a:pPr marL="285750" indent="-285750" rtl="0" fontAlgn="base"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1800" b="0" i="0" u="none" strike="noStrike" dirty="0">
                <a:solidFill>
                  <a:srgbClr val="001E2B"/>
                </a:solidFill>
                <a:effectLst/>
                <a:latin typeface="Lexend Deca" panose="020B0604020202020204" charset="0"/>
              </a:rPr>
              <a:t>Arrays</a:t>
            </a:r>
          </a:p>
        </p:txBody>
      </p:sp>
    </p:spTree>
    <p:extLst>
      <p:ext uri="{BB962C8B-B14F-4D97-AF65-F5344CB8AC3E}">
        <p14:creationId xmlns:p14="http://schemas.microsoft.com/office/powerpoint/2010/main" val="1663318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2BFED-02DB-605B-EB1F-41FE8F5F8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84D8D-0580-E8A6-A257-52E5B5922F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group of documents</a:t>
            </a:r>
          </a:p>
          <a:p>
            <a:r>
              <a:rPr lang="en-GB" dirty="0"/>
              <a:t>Similar to SQL table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C20875-1AAF-ED74-52F3-95614612D755}"/>
              </a:ext>
            </a:extLst>
          </p:cNvPr>
          <p:cNvSpPr txBox="1"/>
          <p:nvPr/>
        </p:nvSpPr>
        <p:spPr>
          <a:xfrm>
            <a:off x="5791200" y="0"/>
            <a:ext cx="64008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"_id"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GB" b="0" dirty="0" err="1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ObjectId</a:t>
            </a:r>
            <a:r>
              <a:rPr lang="en-GB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"607f1f77bcf86cd799439011"</a:t>
            </a:r>
            <a:r>
              <a:rPr lang="en-GB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"Ivan Petrov"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"age"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GB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32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"email"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"ivan.petrov@example.com"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"address"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"street"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"Tsar Boris III N61"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"city"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"Sofia"</a:t>
            </a:r>
            <a:endParaRPr lang="en-GB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},</a:t>
            </a:r>
          </a:p>
          <a:p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favouriteSports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 [</a:t>
            </a: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"Cycling"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"Running"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GB" dirty="0">
                <a:solidFill>
                  <a:srgbClr val="CCCCCC"/>
                </a:solidFill>
                <a:latin typeface="Consolas" panose="020B0609020204030204" pitchFamily="49" charset="0"/>
              </a:rPr>
              <a:t>…</a:t>
            </a:r>
          </a:p>
          <a:p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"_id"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GB" b="0" dirty="0" err="1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ObjectId</a:t>
            </a:r>
            <a:r>
              <a:rPr lang="en-GB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“707f1f78cdf86cd799439011"</a:t>
            </a:r>
            <a:r>
              <a:rPr lang="en-GB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“Dimitar Ivanov"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"age"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GB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"email"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“dimitar.</a:t>
            </a:r>
            <a:r>
              <a:rPr lang="en-GB" dirty="0">
                <a:solidFill>
                  <a:srgbClr val="CE9178"/>
                </a:solidFill>
                <a:latin typeface="Consolas" panose="020B0609020204030204" pitchFamily="49" charset="0"/>
              </a:rPr>
              <a:t>ivanov</a:t>
            </a: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@example.com"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"address"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"street"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“</a:t>
            </a:r>
            <a:r>
              <a:rPr lang="en-GB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Pozitano</a:t>
            </a: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20"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"city"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“Plovdiv"</a:t>
            </a:r>
            <a:endParaRPr lang="en-GB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},</a:t>
            </a:r>
          </a:p>
          <a:p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favouriteSports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 [</a:t>
            </a: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“Swimming"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“</a:t>
            </a:r>
            <a:r>
              <a:rPr lang="en-GB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Treking</a:t>
            </a: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GB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6559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B5223-0507-C742-315C-933A8E58C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F30AE-681D-7386-C500-D06315713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container for collections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8BB0EA-72C0-2FFC-E8AC-88F36E344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38410"/>
            <a:ext cx="6829425" cy="337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0056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309BA76-E4FB-050C-659B-DC925767F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CRUD</a:t>
            </a:r>
          </a:p>
        </p:txBody>
      </p:sp>
    </p:spTree>
    <p:extLst>
      <p:ext uri="{BB962C8B-B14F-4D97-AF65-F5344CB8AC3E}">
        <p14:creationId xmlns:p14="http://schemas.microsoft.com/office/powerpoint/2010/main" val="11898059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73B78-62F1-29FF-9C93-78C7638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Create (</a:t>
            </a:r>
            <a:r>
              <a:rPr lang="en-GB" dirty="0" err="1"/>
              <a:t>insertOne</a:t>
            </a:r>
            <a:r>
              <a:rPr lang="en-GB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ABD05-CB35-597A-496B-78357949D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401300" cy="212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</a:rPr>
              <a:t>db.&lt;collection&gt;.</a:t>
            </a:r>
            <a:r>
              <a:rPr lang="en-GB" b="1" dirty="0" err="1">
                <a:latin typeface="Consolas" panose="020B0609020204030204" pitchFamily="49" charset="0"/>
              </a:rPr>
              <a:t>insertOne</a:t>
            </a:r>
            <a:r>
              <a:rPr lang="en-GB" dirty="0">
                <a:latin typeface="Consolas" panose="020B0609020204030204" pitchFamily="49" charset="0"/>
              </a:rPr>
              <a:t>(&lt;document&gt;, &lt;options&gt;);</a:t>
            </a:r>
          </a:p>
          <a:p>
            <a:pPr marL="0" indent="0">
              <a:buNone/>
            </a:pPr>
            <a:endParaRPr lang="en-GB" dirty="0">
              <a:latin typeface="Consolas" panose="020B0609020204030204" pitchFamily="49" charset="0"/>
            </a:endParaRPr>
          </a:p>
          <a:p>
            <a:r>
              <a:rPr lang="en-GB" dirty="0"/>
              <a:t>document – document to be inserted in JSON format</a:t>
            </a:r>
          </a:p>
          <a:p>
            <a:r>
              <a:rPr lang="en-GB" dirty="0"/>
              <a:t>options – non-mandatory. Specifies options for the operation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FC6CC1-1C77-883B-4261-C9BC50B3A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348063"/>
            <a:ext cx="7621064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076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3AC3C-A460-693B-82A0-E13FD0548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Create (</a:t>
            </a:r>
            <a:r>
              <a:rPr lang="en-GB" dirty="0" err="1"/>
              <a:t>insertMany</a:t>
            </a:r>
            <a:r>
              <a:rPr lang="en-GB" dirty="0"/>
              <a:t>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A55ADF4-5EAE-6841-11E5-024CFFEC006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latin typeface="Consolas" panose="020B0609020204030204" pitchFamily="49" charset="0"/>
              </a:rPr>
              <a:t>db.&lt;collection&gt;.</a:t>
            </a:r>
            <a:r>
              <a:rPr lang="en-GB" b="1" dirty="0" err="1">
                <a:latin typeface="Consolas" panose="020B0609020204030204" pitchFamily="49" charset="0"/>
              </a:rPr>
              <a:t>insertMany</a:t>
            </a:r>
            <a:r>
              <a:rPr lang="en-GB" dirty="0">
                <a:latin typeface="Consolas" panose="020B0609020204030204" pitchFamily="49" charset="0"/>
              </a:rPr>
              <a:t>(&lt;</a:t>
            </a:r>
            <a:r>
              <a:rPr lang="en-GB" dirty="0" err="1">
                <a:latin typeface="Consolas" panose="020B0609020204030204" pitchFamily="49" charset="0"/>
              </a:rPr>
              <a:t>array_of_documents</a:t>
            </a:r>
            <a:r>
              <a:rPr lang="en-GB" dirty="0">
                <a:latin typeface="Consolas" panose="020B0609020204030204" pitchFamily="49" charset="0"/>
              </a:rPr>
              <a:t>&gt;, &lt;options&gt;);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>
              <a:latin typeface="Consolas" panose="020B0609020204030204" pitchFamily="49" charset="0"/>
            </a:endParaRPr>
          </a:p>
          <a:p>
            <a:r>
              <a:rPr lang="en-GB" dirty="0" err="1">
                <a:latin typeface="Consolas" panose="020B0609020204030204" pitchFamily="49" charset="0"/>
              </a:rPr>
              <a:t>array_of_documents</a:t>
            </a:r>
            <a:r>
              <a:rPr lang="en-GB" dirty="0"/>
              <a:t> – documents to be inserted in JSON format</a:t>
            </a:r>
          </a:p>
          <a:p>
            <a:r>
              <a:rPr lang="en-GB" dirty="0"/>
              <a:t>options – non-mandatory. Specifies options for the operation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825FC5-0CCB-4CB0-E120-D48AC03E9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96972"/>
            <a:ext cx="12192000" cy="2102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819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5AD75-E99E-F40D-C702-2F4FCD474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 (find)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58BD2-47EB-6852-E95B-49A46ED36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63300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</a:rPr>
              <a:t>db.&lt;collection&gt;.</a:t>
            </a:r>
            <a:r>
              <a:rPr lang="en-GB" b="1" dirty="0">
                <a:latin typeface="Consolas" panose="020B0609020204030204" pitchFamily="49" charset="0"/>
              </a:rPr>
              <a:t>find</a:t>
            </a:r>
            <a:r>
              <a:rPr lang="en-GB" dirty="0">
                <a:latin typeface="Consolas" panose="020B0609020204030204" pitchFamily="49" charset="0"/>
              </a:rPr>
              <a:t>(&lt;filter&gt;, &lt;projection&gt;, &lt;options&gt;);</a:t>
            </a:r>
          </a:p>
          <a:p>
            <a:r>
              <a:rPr lang="en-GB" dirty="0"/>
              <a:t>filter – Document used as search criteria. If missing, all documents from the particular collection are returned</a:t>
            </a:r>
          </a:p>
          <a:p>
            <a:r>
              <a:rPr lang="en-GB" dirty="0"/>
              <a:t>projection – Document, which specifies which fields to be returned and which not.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ABEB34-ACCA-DF75-E40E-503524736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51" y="4605200"/>
            <a:ext cx="5896798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226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4C02B1-D7C4-C46B-D1B7-9229AE00B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336" y="1995191"/>
            <a:ext cx="5744377" cy="423921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904E1DE-7644-6575-9BC6-00C77A65F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Read (find)</a:t>
            </a:r>
          </a:p>
        </p:txBody>
      </p:sp>
    </p:spTree>
    <p:extLst>
      <p:ext uri="{BB962C8B-B14F-4D97-AF65-F5344CB8AC3E}">
        <p14:creationId xmlns:p14="http://schemas.microsoft.com/office/powerpoint/2010/main" val="22581069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C1B86-F696-82CE-0B6B-343CB4BDA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Update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496F27-5DD7-BC2A-747B-7D5ADD17A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24" y="4819523"/>
            <a:ext cx="8611802" cy="1810003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F4DFBC-9ECA-68DE-5615-6F15AA39A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63300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</a:rPr>
              <a:t>db.&lt;collection&gt;.</a:t>
            </a:r>
            <a:r>
              <a:rPr lang="en-GB" b="1" dirty="0" err="1">
                <a:latin typeface="Consolas" panose="020B0609020204030204" pitchFamily="49" charset="0"/>
              </a:rPr>
              <a:t>updateOne</a:t>
            </a:r>
            <a:r>
              <a:rPr lang="en-GB" dirty="0">
                <a:latin typeface="Consolas" panose="020B0609020204030204" pitchFamily="49" charset="0"/>
              </a:rPr>
              <a:t>(&lt;filter&gt;, &lt;update&gt;, &lt;options&gt;);</a:t>
            </a:r>
          </a:p>
          <a:p>
            <a:r>
              <a:rPr lang="en-GB" dirty="0"/>
              <a:t>filter – Document used as search criteria, in order to decide which document to update</a:t>
            </a:r>
          </a:p>
          <a:p>
            <a:r>
              <a:rPr lang="en-GB" dirty="0"/>
              <a:t>update – Document, which specifies how to update the document</a:t>
            </a:r>
          </a:p>
          <a:p>
            <a:r>
              <a:rPr lang="en-GB" dirty="0"/>
              <a:t>options – Document. Non-mandatory. Specifies options for the operation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39473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40D61-D1E6-C88F-8BFB-88F7F362F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Update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D30AB-5BCC-9D6A-9340-D469C3A82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Here, we use the operator </a:t>
            </a:r>
            <a:r>
              <a:rPr lang="en-GB" b="1" dirty="0"/>
              <a:t>$</a:t>
            </a:r>
            <a:r>
              <a:rPr lang="en-GB" b="1" dirty="0" err="1"/>
              <a:t>inc</a:t>
            </a:r>
            <a:r>
              <a:rPr lang="en-GB" b="1" dirty="0"/>
              <a:t> </a:t>
            </a:r>
            <a:r>
              <a:rPr lang="en-GB" dirty="0"/>
              <a:t>to increment age with 1.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B7CE57-54E8-3A7B-1637-B602B2108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128802"/>
            <a:ext cx="8821381" cy="204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9468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69EC6-874B-70FE-946A-64C9713D3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Update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EEDAE-0E7E-39E0-578F-C51F7AF5A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879" y="1549400"/>
            <a:ext cx="10515600" cy="4351338"/>
          </a:xfrm>
        </p:spPr>
        <p:txBody>
          <a:bodyPr/>
          <a:lstStyle/>
          <a:p>
            <a:r>
              <a:rPr lang="en-GB" dirty="0"/>
              <a:t>Here, we use the operator </a:t>
            </a:r>
            <a:r>
              <a:rPr lang="en-GB" b="1" dirty="0"/>
              <a:t>$set </a:t>
            </a:r>
            <a:r>
              <a:rPr lang="en-GB" dirty="0"/>
              <a:t>to set the </a:t>
            </a:r>
            <a:r>
              <a:rPr lang="en-GB" b="1" dirty="0" err="1"/>
              <a:t>favouriteSports</a:t>
            </a:r>
            <a:r>
              <a:rPr lang="en-GB" dirty="0"/>
              <a:t> attribute with an Array value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6FD47F-9E1C-A756-6EA0-9AB53D309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29" y="4910014"/>
            <a:ext cx="8354591" cy="17623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74677E-9427-BA6C-3534-567A6B2E5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29" y="2645796"/>
            <a:ext cx="12192000" cy="1892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762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C1B86-F696-82CE-0B6B-343CB4BDA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Delete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F4DFBC-9ECA-68DE-5615-6F15AA39A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63300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</a:rPr>
              <a:t>db.&lt;collection&gt;.</a:t>
            </a:r>
            <a:r>
              <a:rPr lang="en-GB" b="1" dirty="0" err="1">
                <a:latin typeface="Consolas" panose="020B0609020204030204" pitchFamily="49" charset="0"/>
              </a:rPr>
              <a:t>deleteOne</a:t>
            </a:r>
            <a:r>
              <a:rPr lang="en-GB" dirty="0">
                <a:latin typeface="Consolas" panose="020B0609020204030204" pitchFamily="49" charset="0"/>
              </a:rPr>
              <a:t>(&lt;filter&gt;, &lt;options&gt;);</a:t>
            </a:r>
          </a:p>
          <a:p>
            <a:r>
              <a:rPr lang="en-GB" dirty="0"/>
              <a:t>filter – Document used as search criteria, in order to decide which </a:t>
            </a:r>
            <a:r>
              <a:rPr lang="en-GB" b="1" dirty="0"/>
              <a:t>document</a:t>
            </a:r>
            <a:r>
              <a:rPr lang="en-GB" dirty="0"/>
              <a:t> to delete</a:t>
            </a:r>
          </a:p>
          <a:p>
            <a:r>
              <a:rPr lang="en-GB" dirty="0"/>
              <a:t>options – Document. Non-mandatory. Specifies options for the operation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25BDA6-0966-BF9F-B85F-C0CBC49E7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814837"/>
            <a:ext cx="6154009" cy="7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6019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C1B86-F696-82CE-0B6B-343CB4BDA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Delete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F4DFBC-9ECA-68DE-5615-6F15AA39A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63300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</a:rPr>
              <a:t>db.&lt;collection&gt;.</a:t>
            </a:r>
            <a:r>
              <a:rPr lang="en-GB" b="1" dirty="0" err="1">
                <a:latin typeface="Consolas" panose="020B0609020204030204" pitchFamily="49" charset="0"/>
              </a:rPr>
              <a:t>deleteMany</a:t>
            </a:r>
            <a:r>
              <a:rPr lang="en-GB" dirty="0">
                <a:latin typeface="Consolas" panose="020B0609020204030204" pitchFamily="49" charset="0"/>
              </a:rPr>
              <a:t>(&lt;filter&gt;, &lt;options&gt;);</a:t>
            </a:r>
          </a:p>
          <a:p>
            <a:r>
              <a:rPr lang="en-GB" dirty="0"/>
              <a:t>filter – Document used as search criteria, in order to decide which </a:t>
            </a:r>
            <a:r>
              <a:rPr lang="en-GB" b="1" dirty="0"/>
              <a:t>documents</a:t>
            </a:r>
            <a:r>
              <a:rPr lang="en-GB" dirty="0"/>
              <a:t> to delete</a:t>
            </a:r>
          </a:p>
          <a:p>
            <a:r>
              <a:rPr lang="en-GB" dirty="0"/>
              <a:t>options – Document. Non-mandatory. Specifies options for the operation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24D371-381B-504F-181E-910C7D16E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4624340"/>
            <a:ext cx="5792008" cy="6763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2D01BA-8998-7A69-624A-92AE9FE7932F}"/>
              </a:ext>
            </a:extLst>
          </p:cNvPr>
          <p:cNvSpPr txBox="1"/>
          <p:nvPr/>
        </p:nvSpPr>
        <p:spPr>
          <a:xfrm>
            <a:off x="838200" y="5435646"/>
            <a:ext cx="60769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Here, we use the operator $</a:t>
            </a:r>
            <a:r>
              <a:rPr lang="en-GB" dirty="0" err="1"/>
              <a:t>lt</a:t>
            </a:r>
            <a:r>
              <a:rPr lang="en-GB" dirty="0"/>
              <a:t> (=less than) to delete all documents from users collection, which are younger than 35 </a:t>
            </a:r>
            <a:r>
              <a:rPr lang="en-GB" dirty="0" err="1"/>
              <a:t>yers</a:t>
            </a:r>
            <a:r>
              <a:rPr lang="en-GB" dirty="0"/>
              <a:t> old.</a:t>
            </a:r>
          </a:p>
        </p:txBody>
      </p:sp>
    </p:spTree>
    <p:extLst>
      <p:ext uri="{BB962C8B-B14F-4D97-AF65-F5344CB8AC3E}">
        <p14:creationId xmlns:p14="http://schemas.microsoft.com/office/powerpoint/2010/main" val="38296121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C1B86-F696-82CE-0B6B-343CB4BDA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Other Important features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F4DFBC-9ECA-68DE-5615-6F15AA39A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63300" cy="4351338"/>
          </a:xfrm>
        </p:spPr>
        <p:txBody>
          <a:bodyPr/>
          <a:lstStyle/>
          <a:p>
            <a:r>
              <a:rPr lang="en-GB" dirty="0"/>
              <a:t>Indexes – Single field, Compound, Text, Geospatial, Unique, etc.</a:t>
            </a:r>
          </a:p>
          <a:p>
            <a:r>
              <a:rPr lang="en-GB" dirty="0"/>
              <a:t>Aggregation Framework.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40639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B638052-3E42-6054-E7C2-5095468DB402}"/>
              </a:ext>
            </a:extLst>
          </p:cNvPr>
          <p:cNvSpPr txBox="1">
            <a:spLocks/>
          </p:cNvSpPr>
          <p:nvPr/>
        </p:nvSpPr>
        <p:spPr>
          <a:xfrm>
            <a:off x="838200" y="29464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/>
              <a:t>Scaling</a:t>
            </a:r>
          </a:p>
        </p:txBody>
      </p:sp>
    </p:spTree>
    <p:extLst>
      <p:ext uri="{BB962C8B-B14F-4D97-AF65-F5344CB8AC3E}">
        <p14:creationId xmlns:p14="http://schemas.microsoft.com/office/powerpoint/2010/main" val="23860070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9" name="Google Shape;3599;p242"/>
          <p:cNvSpPr/>
          <p:nvPr/>
        </p:nvSpPr>
        <p:spPr>
          <a:xfrm>
            <a:off x="4834283" y="1842467"/>
            <a:ext cx="2417200" cy="1359200"/>
          </a:xfrm>
          <a:prstGeom prst="roundRect">
            <a:avLst>
              <a:gd name="adj" fmla="val 0"/>
            </a:avLst>
          </a:prstGeom>
          <a:noFill/>
          <a:ln w="9525" cap="rnd" cmpd="sng">
            <a:solidFill>
              <a:srgbClr val="001E2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00" rIns="121900" bIns="60900" anchor="ctr" anchorCtr="0">
            <a:noAutofit/>
          </a:bodyPr>
          <a:lstStyle/>
          <a:p>
            <a:pPr algn="ctr"/>
            <a:endParaRPr sz="1067">
              <a:solidFill>
                <a:srgbClr val="001E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3600" name="Google Shape;3600;p242"/>
          <p:cNvSpPr/>
          <p:nvPr/>
        </p:nvSpPr>
        <p:spPr>
          <a:xfrm>
            <a:off x="5184628" y="2065377"/>
            <a:ext cx="1716800" cy="3736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spcFirstLastPara="1" wrap="square" lIns="121900" tIns="60900" rIns="121900" bIns="60900" anchor="ctr" anchorCtr="0">
            <a:noAutofit/>
          </a:bodyPr>
          <a:lstStyle/>
          <a:p>
            <a:pPr algn="ctr"/>
            <a:r>
              <a:rPr lang="en" sz="1467">
                <a:solidFill>
                  <a:srgbClr val="001E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Application</a:t>
            </a:r>
            <a:endParaRPr sz="1867">
              <a:solidFill>
                <a:srgbClr val="001E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3601" name="Google Shape;3601;p242"/>
          <p:cNvSpPr/>
          <p:nvPr/>
        </p:nvSpPr>
        <p:spPr>
          <a:xfrm>
            <a:off x="5184628" y="2641487"/>
            <a:ext cx="1716800" cy="373600"/>
          </a:xfrm>
          <a:prstGeom prst="rect">
            <a:avLst/>
          </a:prstGeom>
          <a:solidFill>
            <a:srgbClr val="F9EBFF"/>
          </a:solidFill>
          <a:ln w="9525" cap="flat" cmpd="sng">
            <a:solidFill>
              <a:srgbClr val="001E2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7" tIns="34267" rIns="68567" bIns="34267" anchor="ctr" anchorCtr="0">
            <a:noAutofit/>
          </a:bodyPr>
          <a:lstStyle/>
          <a:p>
            <a:pPr algn="ctr"/>
            <a:r>
              <a:rPr lang="en" sz="1467">
                <a:solidFill>
                  <a:srgbClr val="001E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Driver</a:t>
            </a:r>
            <a:endParaRPr sz="1467">
              <a:solidFill>
                <a:srgbClr val="001E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3602" name="Google Shape;3602;p242"/>
          <p:cNvSpPr/>
          <p:nvPr/>
        </p:nvSpPr>
        <p:spPr>
          <a:xfrm>
            <a:off x="6111743" y="3334051"/>
            <a:ext cx="1396000" cy="373600"/>
          </a:xfrm>
          <a:prstGeom prst="rect">
            <a:avLst/>
          </a:prstGeom>
          <a:solidFill>
            <a:srgbClr val="F9EBFF"/>
          </a:solidFill>
          <a:ln w="9525" cap="flat" cmpd="sng">
            <a:solidFill>
              <a:srgbClr val="001E2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7" tIns="34267" rIns="68567" bIns="34267" anchor="ctr" anchorCtr="0">
            <a:noAutofit/>
          </a:bodyPr>
          <a:lstStyle/>
          <a:p>
            <a:pPr algn="ctr"/>
            <a:r>
              <a:rPr lang="en" sz="1467">
                <a:solidFill>
                  <a:srgbClr val="001E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Mongos</a:t>
            </a:r>
            <a:endParaRPr sz="1467">
              <a:solidFill>
                <a:srgbClr val="001E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3603" name="Google Shape;3603;p242"/>
          <p:cNvSpPr/>
          <p:nvPr/>
        </p:nvSpPr>
        <p:spPr>
          <a:xfrm>
            <a:off x="2913188" y="4586081"/>
            <a:ext cx="1716800" cy="373600"/>
          </a:xfrm>
          <a:prstGeom prst="rect">
            <a:avLst/>
          </a:prstGeom>
          <a:solidFill>
            <a:srgbClr val="F9EBFF"/>
          </a:solidFill>
          <a:ln w="9525" cap="flat" cmpd="sng">
            <a:solidFill>
              <a:srgbClr val="001E2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7" tIns="34267" rIns="68567" bIns="34267" anchor="ctr" anchorCtr="0">
            <a:noAutofit/>
          </a:bodyPr>
          <a:lstStyle/>
          <a:p>
            <a:pPr algn="ctr"/>
            <a:r>
              <a:rPr lang="en" sz="1467">
                <a:solidFill>
                  <a:srgbClr val="001E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Primary</a:t>
            </a:r>
            <a:endParaRPr sz="1467">
              <a:solidFill>
                <a:srgbClr val="001E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3604" name="Google Shape;3604;p242"/>
          <p:cNvSpPr/>
          <p:nvPr/>
        </p:nvSpPr>
        <p:spPr>
          <a:xfrm>
            <a:off x="2913188" y="5015473"/>
            <a:ext cx="1716800" cy="373600"/>
          </a:xfrm>
          <a:prstGeom prst="rect">
            <a:avLst/>
          </a:prstGeom>
          <a:solidFill>
            <a:srgbClr val="F9EBFF"/>
          </a:solidFill>
          <a:ln w="9525" cap="flat" cmpd="sng">
            <a:solidFill>
              <a:srgbClr val="001E2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7" tIns="34267" rIns="68567" bIns="34267" anchor="ctr" anchorCtr="0">
            <a:noAutofit/>
          </a:bodyPr>
          <a:lstStyle/>
          <a:p>
            <a:pPr algn="ctr"/>
            <a:r>
              <a:rPr lang="en" sz="1467">
                <a:solidFill>
                  <a:srgbClr val="001E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Secondary</a:t>
            </a:r>
            <a:endParaRPr sz="1467">
              <a:solidFill>
                <a:srgbClr val="001E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3605" name="Google Shape;3605;p242"/>
          <p:cNvSpPr/>
          <p:nvPr/>
        </p:nvSpPr>
        <p:spPr>
          <a:xfrm>
            <a:off x="2913188" y="5454731"/>
            <a:ext cx="1716800" cy="373600"/>
          </a:xfrm>
          <a:prstGeom prst="rect">
            <a:avLst/>
          </a:prstGeom>
          <a:solidFill>
            <a:srgbClr val="F9EBFF"/>
          </a:solidFill>
          <a:ln w="9525" cap="flat" cmpd="sng">
            <a:solidFill>
              <a:srgbClr val="001E2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7" tIns="34267" rIns="68567" bIns="34267" anchor="ctr" anchorCtr="0">
            <a:noAutofit/>
          </a:bodyPr>
          <a:lstStyle/>
          <a:p>
            <a:pPr algn="ctr"/>
            <a:r>
              <a:rPr lang="en" sz="1467">
                <a:solidFill>
                  <a:srgbClr val="001E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Secondary</a:t>
            </a:r>
            <a:endParaRPr sz="1467">
              <a:solidFill>
                <a:srgbClr val="001E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3606" name="Google Shape;3606;p242"/>
          <p:cNvSpPr/>
          <p:nvPr/>
        </p:nvSpPr>
        <p:spPr>
          <a:xfrm>
            <a:off x="2913223" y="4291487"/>
            <a:ext cx="1716800" cy="3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00" rIns="121900" bIns="60900" anchor="t" anchorCtr="0">
            <a:noAutofit/>
          </a:bodyPr>
          <a:lstStyle/>
          <a:p>
            <a:pPr algn="ctr"/>
            <a:r>
              <a:rPr lang="en" sz="1467">
                <a:solidFill>
                  <a:srgbClr val="001E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Shard 1</a:t>
            </a:r>
            <a:endParaRPr sz="1867">
              <a:solidFill>
                <a:srgbClr val="001E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3607" name="Google Shape;3607;p242"/>
          <p:cNvSpPr/>
          <p:nvPr/>
        </p:nvSpPr>
        <p:spPr>
          <a:xfrm>
            <a:off x="4871448" y="4586081"/>
            <a:ext cx="1716800" cy="373600"/>
          </a:xfrm>
          <a:prstGeom prst="rect">
            <a:avLst/>
          </a:prstGeom>
          <a:solidFill>
            <a:srgbClr val="F9EBFF"/>
          </a:solidFill>
          <a:ln w="9525" cap="flat" cmpd="sng">
            <a:solidFill>
              <a:srgbClr val="001E2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7" tIns="34267" rIns="68567" bIns="34267" anchor="ctr" anchorCtr="0">
            <a:noAutofit/>
          </a:bodyPr>
          <a:lstStyle/>
          <a:p>
            <a:pPr algn="ctr"/>
            <a:r>
              <a:rPr lang="en" sz="1467">
                <a:solidFill>
                  <a:srgbClr val="001E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Primary</a:t>
            </a:r>
            <a:endParaRPr sz="1467">
              <a:solidFill>
                <a:srgbClr val="001E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3608" name="Google Shape;3608;p242"/>
          <p:cNvSpPr/>
          <p:nvPr/>
        </p:nvSpPr>
        <p:spPr>
          <a:xfrm>
            <a:off x="4871448" y="5015473"/>
            <a:ext cx="1716800" cy="373600"/>
          </a:xfrm>
          <a:prstGeom prst="rect">
            <a:avLst/>
          </a:prstGeom>
          <a:solidFill>
            <a:srgbClr val="F9EBFF"/>
          </a:solidFill>
          <a:ln w="9525" cap="flat" cmpd="sng">
            <a:solidFill>
              <a:srgbClr val="001E2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7" tIns="34267" rIns="68567" bIns="34267" anchor="ctr" anchorCtr="0">
            <a:noAutofit/>
          </a:bodyPr>
          <a:lstStyle/>
          <a:p>
            <a:pPr algn="ctr"/>
            <a:r>
              <a:rPr lang="en" sz="1467">
                <a:solidFill>
                  <a:srgbClr val="001E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Secondary</a:t>
            </a:r>
            <a:endParaRPr sz="1467">
              <a:solidFill>
                <a:srgbClr val="001E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3609" name="Google Shape;3609;p242"/>
          <p:cNvSpPr/>
          <p:nvPr/>
        </p:nvSpPr>
        <p:spPr>
          <a:xfrm>
            <a:off x="4871448" y="5454731"/>
            <a:ext cx="1716800" cy="373600"/>
          </a:xfrm>
          <a:prstGeom prst="rect">
            <a:avLst/>
          </a:prstGeom>
          <a:solidFill>
            <a:srgbClr val="F9EBFF"/>
          </a:solidFill>
          <a:ln w="9525" cap="flat" cmpd="sng">
            <a:solidFill>
              <a:srgbClr val="001E2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7" tIns="34267" rIns="68567" bIns="34267" anchor="ctr" anchorCtr="0">
            <a:noAutofit/>
          </a:bodyPr>
          <a:lstStyle/>
          <a:p>
            <a:pPr algn="ctr"/>
            <a:r>
              <a:rPr lang="en" sz="1467">
                <a:solidFill>
                  <a:srgbClr val="001E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Secondary</a:t>
            </a:r>
            <a:endParaRPr sz="1467">
              <a:solidFill>
                <a:srgbClr val="001E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3610" name="Google Shape;3610;p242"/>
          <p:cNvSpPr/>
          <p:nvPr/>
        </p:nvSpPr>
        <p:spPr>
          <a:xfrm>
            <a:off x="4871475" y="4291487"/>
            <a:ext cx="1716800" cy="3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00" rIns="121900" bIns="60900" anchor="t" anchorCtr="0">
            <a:noAutofit/>
          </a:bodyPr>
          <a:lstStyle/>
          <a:p>
            <a:pPr algn="ctr"/>
            <a:r>
              <a:rPr lang="en" sz="1467">
                <a:solidFill>
                  <a:srgbClr val="001E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Shard 2</a:t>
            </a:r>
            <a:endParaRPr sz="1867">
              <a:solidFill>
                <a:srgbClr val="001E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3611" name="Google Shape;3611;p242"/>
          <p:cNvSpPr/>
          <p:nvPr/>
        </p:nvSpPr>
        <p:spPr>
          <a:xfrm>
            <a:off x="7456067" y="4586081"/>
            <a:ext cx="1716800" cy="373600"/>
          </a:xfrm>
          <a:prstGeom prst="rect">
            <a:avLst/>
          </a:prstGeom>
          <a:solidFill>
            <a:srgbClr val="F9EBFF"/>
          </a:solidFill>
          <a:ln w="9525" cap="flat" cmpd="sng">
            <a:solidFill>
              <a:srgbClr val="001E2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7" tIns="34267" rIns="68567" bIns="34267" anchor="ctr" anchorCtr="0">
            <a:noAutofit/>
          </a:bodyPr>
          <a:lstStyle/>
          <a:p>
            <a:pPr algn="ctr"/>
            <a:r>
              <a:rPr lang="en" sz="1467">
                <a:solidFill>
                  <a:srgbClr val="001E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Primary</a:t>
            </a:r>
            <a:endParaRPr sz="1467">
              <a:solidFill>
                <a:srgbClr val="001E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3612" name="Google Shape;3612;p242"/>
          <p:cNvSpPr/>
          <p:nvPr/>
        </p:nvSpPr>
        <p:spPr>
          <a:xfrm>
            <a:off x="7456067" y="5015473"/>
            <a:ext cx="1716800" cy="373600"/>
          </a:xfrm>
          <a:prstGeom prst="rect">
            <a:avLst/>
          </a:prstGeom>
          <a:solidFill>
            <a:srgbClr val="F9EBFF"/>
          </a:solidFill>
          <a:ln w="9525" cap="flat" cmpd="sng">
            <a:solidFill>
              <a:srgbClr val="001E2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7" tIns="34267" rIns="68567" bIns="34267" anchor="ctr" anchorCtr="0">
            <a:noAutofit/>
          </a:bodyPr>
          <a:lstStyle/>
          <a:p>
            <a:pPr algn="ctr"/>
            <a:r>
              <a:rPr lang="en" sz="1467">
                <a:solidFill>
                  <a:srgbClr val="001E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Secondary</a:t>
            </a:r>
            <a:endParaRPr sz="1467">
              <a:solidFill>
                <a:srgbClr val="001E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3613" name="Google Shape;3613;p242"/>
          <p:cNvSpPr/>
          <p:nvPr/>
        </p:nvSpPr>
        <p:spPr>
          <a:xfrm>
            <a:off x="7456067" y="5454731"/>
            <a:ext cx="1716800" cy="373600"/>
          </a:xfrm>
          <a:prstGeom prst="rect">
            <a:avLst/>
          </a:prstGeom>
          <a:solidFill>
            <a:srgbClr val="F9EBFF"/>
          </a:solidFill>
          <a:ln w="9525" cap="flat" cmpd="sng">
            <a:solidFill>
              <a:srgbClr val="001E2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7" tIns="34267" rIns="68567" bIns="34267" anchor="ctr" anchorCtr="0">
            <a:noAutofit/>
          </a:bodyPr>
          <a:lstStyle/>
          <a:p>
            <a:pPr algn="ctr"/>
            <a:r>
              <a:rPr lang="en" sz="1467">
                <a:solidFill>
                  <a:srgbClr val="001E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Secondary</a:t>
            </a:r>
            <a:endParaRPr sz="1467">
              <a:solidFill>
                <a:srgbClr val="001E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3614" name="Google Shape;3614;p242"/>
          <p:cNvSpPr/>
          <p:nvPr/>
        </p:nvSpPr>
        <p:spPr>
          <a:xfrm>
            <a:off x="7456047" y="4291487"/>
            <a:ext cx="1716800" cy="3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00" rIns="121900" bIns="60900" anchor="t" anchorCtr="0">
            <a:noAutofit/>
          </a:bodyPr>
          <a:lstStyle/>
          <a:p>
            <a:pPr algn="ctr"/>
            <a:r>
              <a:rPr lang="en" sz="1467">
                <a:solidFill>
                  <a:srgbClr val="001E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Shard N</a:t>
            </a:r>
            <a:endParaRPr sz="1867">
              <a:solidFill>
                <a:srgbClr val="001E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3615" name="Google Shape;3615;p242"/>
          <p:cNvSpPr/>
          <p:nvPr/>
        </p:nvSpPr>
        <p:spPr>
          <a:xfrm>
            <a:off x="4657493" y="3334039"/>
            <a:ext cx="1334000" cy="373600"/>
          </a:xfrm>
          <a:prstGeom prst="rect">
            <a:avLst/>
          </a:prstGeom>
          <a:solidFill>
            <a:srgbClr val="F9EBFF"/>
          </a:solidFill>
          <a:ln w="9525" cap="flat" cmpd="sng">
            <a:solidFill>
              <a:srgbClr val="001E2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7" tIns="34267" rIns="68567" bIns="34267" anchor="ctr" anchorCtr="0">
            <a:noAutofit/>
          </a:bodyPr>
          <a:lstStyle/>
          <a:p>
            <a:pPr algn="ctr"/>
            <a:r>
              <a:rPr lang="en" sz="1467">
                <a:solidFill>
                  <a:srgbClr val="001E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Mongos</a:t>
            </a:r>
            <a:endParaRPr sz="1467">
              <a:solidFill>
                <a:srgbClr val="001E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3616" name="Google Shape;3616;p242"/>
          <p:cNvSpPr txBox="1"/>
          <p:nvPr/>
        </p:nvSpPr>
        <p:spPr>
          <a:xfrm>
            <a:off x="7735075" y="3293179"/>
            <a:ext cx="559600" cy="4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algn="ctr"/>
            <a:r>
              <a:rPr lang="en" sz="2667">
                <a:solidFill>
                  <a:srgbClr val="00684A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•••</a:t>
            </a:r>
            <a:endParaRPr sz="1467">
              <a:solidFill>
                <a:srgbClr val="00684A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3617" name="Google Shape;3617;p242"/>
          <p:cNvSpPr txBox="1"/>
          <p:nvPr/>
        </p:nvSpPr>
        <p:spPr>
          <a:xfrm>
            <a:off x="3984008" y="3293179"/>
            <a:ext cx="559600" cy="4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algn="ctr"/>
            <a:r>
              <a:rPr lang="en" sz="2667">
                <a:solidFill>
                  <a:srgbClr val="00684A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•••</a:t>
            </a:r>
            <a:endParaRPr sz="1467">
              <a:solidFill>
                <a:srgbClr val="00684A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3618" name="Google Shape;3618;p242"/>
          <p:cNvSpPr txBox="1"/>
          <p:nvPr/>
        </p:nvSpPr>
        <p:spPr>
          <a:xfrm>
            <a:off x="6742217" y="4999467"/>
            <a:ext cx="559600" cy="4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algn="ctr"/>
            <a:r>
              <a:rPr lang="en" sz="2667">
                <a:solidFill>
                  <a:srgbClr val="000000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•••</a:t>
            </a:r>
            <a:endParaRPr sz="1467">
              <a:solidFill>
                <a:srgbClr val="000000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3619" name="Google Shape;3619;p242"/>
          <p:cNvSpPr/>
          <p:nvPr/>
        </p:nvSpPr>
        <p:spPr>
          <a:xfrm>
            <a:off x="5184628" y="2003145"/>
            <a:ext cx="1716800" cy="373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1E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00" rIns="121900" bIns="60900" anchor="ctr" anchorCtr="0">
            <a:noAutofit/>
          </a:bodyPr>
          <a:lstStyle/>
          <a:p>
            <a:pPr algn="ctr"/>
            <a:r>
              <a:rPr lang="en" sz="1467">
                <a:solidFill>
                  <a:srgbClr val="001E2B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Application</a:t>
            </a:r>
            <a:endParaRPr sz="1867">
              <a:solidFill>
                <a:srgbClr val="001E2B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cxnSp>
        <p:nvCxnSpPr>
          <p:cNvPr id="3620" name="Google Shape;3620;p242"/>
          <p:cNvCxnSpPr/>
          <p:nvPr/>
        </p:nvCxnSpPr>
        <p:spPr>
          <a:xfrm>
            <a:off x="6043079" y="2420571"/>
            <a:ext cx="0" cy="177200"/>
          </a:xfrm>
          <a:prstGeom prst="straightConnector1">
            <a:avLst/>
          </a:prstGeom>
          <a:noFill/>
          <a:ln w="9525" cap="flat" cmpd="sng">
            <a:solidFill>
              <a:srgbClr val="001E2B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621" name="Google Shape;3621;p242"/>
          <p:cNvCxnSpPr/>
          <p:nvPr/>
        </p:nvCxnSpPr>
        <p:spPr>
          <a:xfrm rot="10800000">
            <a:off x="3784267" y="3892687"/>
            <a:ext cx="0" cy="398800"/>
          </a:xfrm>
          <a:prstGeom prst="straightConnector1">
            <a:avLst/>
          </a:prstGeom>
          <a:noFill/>
          <a:ln w="9525" cap="flat" cmpd="sng">
            <a:solidFill>
              <a:srgbClr val="001E2B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3622" name="Google Shape;3622;p242"/>
          <p:cNvCxnSpPr/>
          <p:nvPr/>
        </p:nvCxnSpPr>
        <p:spPr>
          <a:xfrm rot="10800000">
            <a:off x="5729897" y="3892687"/>
            <a:ext cx="0" cy="398800"/>
          </a:xfrm>
          <a:prstGeom prst="straightConnector1">
            <a:avLst/>
          </a:prstGeom>
          <a:noFill/>
          <a:ln w="9525" cap="flat" cmpd="sng">
            <a:solidFill>
              <a:srgbClr val="001E2B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3623" name="Google Shape;3623;p242"/>
          <p:cNvCxnSpPr/>
          <p:nvPr/>
        </p:nvCxnSpPr>
        <p:spPr>
          <a:xfrm rot="10800000">
            <a:off x="8332567" y="3892687"/>
            <a:ext cx="0" cy="398800"/>
          </a:xfrm>
          <a:prstGeom prst="straightConnector1">
            <a:avLst/>
          </a:prstGeom>
          <a:noFill/>
          <a:ln w="9525" cap="flat" cmpd="sng">
            <a:solidFill>
              <a:srgbClr val="001E2B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3624" name="Google Shape;3624;p242"/>
          <p:cNvCxnSpPr/>
          <p:nvPr/>
        </p:nvCxnSpPr>
        <p:spPr>
          <a:xfrm>
            <a:off x="3784267" y="3892584"/>
            <a:ext cx="4548400" cy="0"/>
          </a:xfrm>
          <a:prstGeom prst="straightConnector1">
            <a:avLst/>
          </a:prstGeom>
          <a:noFill/>
          <a:ln w="9525" cap="flat" cmpd="sng">
            <a:solidFill>
              <a:srgbClr val="001E2B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25" name="Google Shape;3625;p242"/>
          <p:cNvCxnSpPr/>
          <p:nvPr/>
        </p:nvCxnSpPr>
        <p:spPr>
          <a:xfrm>
            <a:off x="5324541" y="3707559"/>
            <a:ext cx="0" cy="140800"/>
          </a:xfrm>
          <a:prstGeom prst="straightConnector1">
            <a:avLst/>
          </a:prstGeom>
          <a:noFill/>
          <a:ln w="9525" cap="flat" cmpd="sng">
            <a:solidFill>
              <a:srgbClr val="001E2B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626" name="Google Shape;3626;p242"/>
          <p:cNvCxnSpPr/>
          <p:nvPr/>
        </p:nvCxnSpPr>
        <p:spPr>
          <a:xfrm>
            <a:off x="6809692" y="3707559"/>
            <a:ext cx="0" cy="140800"/>
          </a:xfrm>
          <a:prstGeom prst="straightConnector1">
            <a:avLst/>
          </a:prstGeom>
          <a:noFill/>
          <a:ln w="9525" cap="flat" cmpd="sng">
            <a:solidFill>
              <a:srgbClr val="001E2B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627" name="Google Shape;3627;p242"/>
          <p:cNvSpPr txBox="1"/>
          <p:nvPr/>
        </p:nvSpPr>
        <p:spPr>
          <a:xfrm>
            <a:off x="761267" y="474567"/>
            <a:ext cx="6046000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4000" dirty="0">
                <a:latin typeface="+mj-lt"/>
                <a:ea typeface="Noto Serif JP"/>
                <a:cs typeface="Noto Serif JP"/>
                <a:sym typeface="Noto Serif JP"/>
              </a:rPr>
              <a:t>Sharding Architecture </a:t>
            </a:r>
            <a:endParaRPr sz="4000" dirty="0">
              <a:latin typeface="+mj-lt"/>
              <a:ea typeface="Noto Serif JP"/>
              <a:cs typeface="Noto Serif JP"/>
              <a:sym typeface="Noto Serif JP"/>
            </a:endParaRPr>
          </a:p>
        </p:txBody>
      </p:sp>
      <p:sp>
        <p:nvSpPr>
          <p:cNvPr id="3628" name="Google Shape;3628;p242"/>
          <p:cNvSpPr/>
          <p:nvPr/>
        </p:nvSpPr>
        <p:spPr>
          <a:xfrm>
            <a:off x="9904533" y="2677480"/>
            <a:ext cx="1343200" cy="2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" sz="1333">
                <a:solidFill>
                  <a:srgbClr val="1A1A1A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Config Servers</a:t>
            </a:r>
            <a:endParaRPr sz="1333">
              <a:solidFill>
                <a:srgbClr val="1A1A1A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3629" name="Google Shape;3629;p242"/>
          <p:cNvSpPr/>
          <p:nvPr/>
        </p:nvSpPr>
        <p:spPr>
          <a:xfrm>
            <a:off x="9904467" y="3014263"/>
            <a:ext cx="1343200" cy="347200"/>
          </a:xfrm>
          <a:prstGeom prst="roundRect">
            <a:avLst>
              <a:gd name="adj" fmla="val 10970"/>
            </a:avLst>
          </a:prstGeom>
          <a:solidFill>
            <a:srgbClr val="F9EB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1100"/>
            </a:pPr>
            <a:r>
              <a:rPr lang="en" sz="1467"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PRIMARY</a:t>
            </a:r>
            <a:endParaRPr sz="1467">
              <a:solidFill>
                <a:schemeClr val="dk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3630" name="Google Shape;3630;p242"/>
          <p:cNvSpPr/>
          <p:nvPr/>
        </p:nvSpPr>
        <p:spPr>
          <a:xfrm>
            <a:off x="9904467" y="3444163"/>
            <a:ext cx="1343200" cy="347200"/>
          </a:xfrm>
          <a:prstGeom prst="roundRect">
            <a:avLst>
              <a:gd name="adj" fmla="val 10970"/>
            </a:avLst>
          </a:prstGeom>
          <a:solidFill>
            <a:srgbClr val="F9EB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1100"/>
            </a:pPr>
            <a:r>
              <a:rPr lang="en" sz="1467"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SECONDARY</a:t>
            </a:r>
            <a:endParaRPr sz="1467">
              <a:solidFill>
                <a:schemeClr val="dk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3631" name="Google Shape;3631;p242"/>
          <p:cNvSpPr/>
          <p:nvPr/>
        </p:nvSpPr>
        <p:spPr>
          <a:xfrm>
            <a:off x="9904467" y="3874063"/>
            <a:ext cx="1343200" cy="347200"/>
          </a:xfrm>
          <a:prstGeom prst="roundRect">
            <a:avLst>
              <a:gd name="adj" fmla="val 10970"/>
            </a:avLst>
          </a:prstGeom>
          <a:solidFill>
            <a:srgbClr val="F9EB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1100"/>
            </a:pPr>
            <a:r>
              <a:rPr lang="en" sz="1467"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SECONDARY</a:t>
            </a:r>
            <a:endParaRPr sz="1467">
              <a:solidFill>
                <a:schemeClr val="dk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3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3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3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3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906</TotalTime>
  <Words>881</Words>
  <Application>Microsoft Office PowerPoint</Application>
  <PresentationFormat>Widescreen</PresentationFormat>
  <Paragraphs>149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Aptos</vt:lpstr>
      <vt:lpstr>Aptos Display</vt:lpstr>
      <vt:lpstr>Arial</vt:lpstr>
      <vt:lpstr>Consolas</vt:lpstr>
      <vt:lpstr>Lexend Deca</vt:lpstr>
      <vt:lpstr>Lexend Deca Light</vt:lpstr>
      <vt:lpstr>Office Theme</vt:lpstr>
      <vt:lpstr>MongoDB Basics</vt:lpstr>
      <vt:lpstr>Relational vs Non-Relational Model</vt:lpstr>
      <vt:lpstr>PowerPoint Presentation</vt:lpstr>
      <vt:lpstr>PowerPoint Presentation</vt:lpstr>
      <vt:lpstr>PowerPoint Presentation</vt:lpstr>
      <vt:lpstr>Non-Relational Model</vt:lpstr>
      <vt:lpstr>Non-Relational Model: Data structure</vt:lpstr>
      <vt:lpstr>PowerPoint Presentation</vt:lpstr>
      <vt:lpstr>PowerPoint Presentation</vt:lpstr>
      <vt:lpstr>MongoDB</vt:lpstr>
      <vt:lpstr>MongoDB</vt:lpstr>
      <vt:lpstr>Document</vt:lpstr>
      <vt:lpstr>Collection</vt:lpstr>
      <vt:lpstr>Database</vt:lpstr>
      <vt:lpstr>CRUD</vt:lpstr>
      <vt:lpstr>Create (insertOne)</vt:lpstr>
      <vt:lpstr>Create (insertMany)</vt:lpstr>
      <vt:lpstr>Read (find)</vt:lpstr>
      <vt:lpstr>Read (find)</vt:lpstr>
      <vt:lpstr>Update</vt:lpstr>
      <vt:lpstr>Update</vt:lpstr>
      <vt:lpstr>Update</vt:lpstr>
      <vt:lpstr>Delete</vt:lpstr>
      <vt:lpstr>Delete</vt:lpstr>
      <vt:lpstr>Other Important features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borislav</dc:creator>
  <cp:lastModifiedBy>borislav</cp:lastModifiedBy>
  <cp:revision>3</cp:revision>
  <dcterms:created xsi:type="dcterms:W3CDTF">2026-03-01T22:42:11Z</dcterms:created>
  <dcterms:modified xsi:type="dcterms:W3CDTF">2026-03-02T13:48:23Z</dcterms:modified>
</cp:coreProperties>
</file>