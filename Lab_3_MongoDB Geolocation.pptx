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7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96" d="100"/>
          <a:sy n="96" d="100"/>
        </p:scale>
        <p:origin x="178" y="-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A78DC-13EA-3D9A-1E62-512731F90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AB4D52-0C44-C9D7-D95D-7031C8C21E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1686F-4988-6C61-FACF-FCD5965FF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7A070-8806-40B7-803B-C56F2665ED0D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FDA0E-A4D0-FE77-18D4-5B6A94A4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3CE06-BDB6-AA08-7B2E-9CC8DED6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205CC-E234-438A-A98A-219699666A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5272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3F33-1D21-F984-2200-9439371BD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155B0-55A2-A720-1AE3-1B6F82893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CC42B-AAFD-7B39-7563-D5533B4B6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7A070-8806-40B7-803B-C56F2665ED0D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A85DC-CE14-D86E-AF49-D4100AFC9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6DAC7-E35F-D58F-C018-8E930AF87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205CC-E234-438A-A98A-219699666A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08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F6D9-579E-3F9A-3B74-6CB1BD119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8EE3F-6080-4297-B447-D58234734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BCA03-C093-9BE4-268B-ED5E10AEC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7A070-8806-40B7-803B-C56F2665ED0D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284AD-7C25-4B62-D99D-F2BA77229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A2BC4-CCDA-3B47-E053-3EEB2AF20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205CC-E234-438A-A98A-219699666A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57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C7521-96E0-7EED-CDC3-A1BABC33A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12CB9-C827-3A0D-7B63-9BABAD752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48DE4-C9D8-1329-56DF-7538EB8E15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3DAB8-7F85-E6C9-3AA9-1C1F8D16A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7A070-8806-40B7-803B-C56F2665ED0D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B7115-9C39-4F5C-954E-90C40628F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1E587-34D6-262B-9F19-831A3DD6A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205CC-E234-438A-A98A-219699666A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465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1E296-3DA7-DB77-A098-610EA0DF8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3D12E-AF1E-6EB8-4817-4FAA55AE0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4F3538-BED6-4DF2-A53B-5B1D11CD3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27E2AA-67BD-85DE-B0EE-F4B8A22344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5EBE91-1FB9-06C4-F95A-5DDFC3AE43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0558C2-463C-B1B5-E765-615B97B74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7A070-8806-40B7-803B-C56F2665ED0D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43C635-F66F-F9D3-5FE9-7414F4AF9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F82620-2772-F2A8-16EF-954798765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205CC-E234-438A-A98A-219699666A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311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C4765-36F2-508C-ED04-9B15990B3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B06CCA-9211-7638-8E94-3D01B9490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7A070-8806-40B7-803B-C56F2665ED0D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603D49-9C0D-335B-E842-2AE81B6B0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3540D7-D68A-F519-5A0A-F6D27AD0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205CC-E234-438A-A98A-219699666A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4764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AF6253-69D5-565D-384B-D1A14313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7A070-8806-40B7-803B-C56F2665ED0D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09B501-BC27-981B-AADD-BC1A0E95A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FA682-CCD7-0490-FDFC-0C8027D5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205CC-E234-438A-A98A-219699666A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8259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47765-0CBF-E02B-4D05-FAF3FBAF4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CDD27-7A8B-9237-34D0-F60CE4E7F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2D6815-72DB-0A66-8CCF-CB51C3A61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8B5611-DA2F-030A-2CAA-CD3622BD5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7A070-8806-40B7-803B-C56F2665ED0D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FFD1B-5E23-8703-181F-EE0C1A5F1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4C4B66-5F7B-C2AF-721A-065D8BC9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205CC-E234-438A-A98A-219699666A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8253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83BD1-8BC5-9A05-FA8D-43A08FADF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D391FC-586F-8689-7289-70A7B44B65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978A9-BB23-022C-2661-229B6E1BA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3F62E-6A81-ED18-1725-BD0D860EA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7A070-8806-40B7-803B-C56F2665ED0D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5A7CDC-38B2-B29F-3B09-8DEFF5FB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5AF772-1A2C-CACA-5F7D-6D03FC3B3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205CC-E234-438A-A98A-219699666A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07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E5458-9943-ADC5-DD28-DCB9ADA40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6E7BC-6BA1-F4AA-B2CA-ED260A69F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71774-2CD6-42B9-6411-9C186200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7A070-8806-40B7-803B-C56F2665ED0D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5498-0A33-07F3-5886-34B48000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B440-958A-1861-6C43-FBF37A0F4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205CC-E234-438A-A98A-219699666A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1210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D4754F-6533-ED9C-06EF-AF4E70C0D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40358D-2319-EB3F-7B46-AE0186BFE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30614-A029-59CD-CA43-658CE5BB5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7A070-8806-40B7-803B-C56F2665ED0D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78D86-4D39-1654-1BB6-6E855E05A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E31F5-AA85-5048-9091-4B946B692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205CC-E234-438A-A98A-219699666A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4157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E3D485-AF6F-209D-8AEC-292258FD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82004-AE2E-8E33-ED0E-63BB88C83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77450-1979-129C-CD1B-D7C2F4998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E7A070-8806-40B7-803B-C56F2665ED0D}" type="datetimeFigureOut">
              <a:rPr lang="en-GB" smtClean="0"/>
              <a:t>30/03/2026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E67E2-6747-054E-0BC1-3BE75895FE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C2202-7AE6-703B-3BBF-F62C6B8F5C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E205CC-E234-438A-A98A-219699666A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072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822C7-BA1B-67BB-2B29-38CCA46D54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Geolocation with MongoDB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FB96A5-F97B-3070-9286-3145BCCFA6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860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150-F8A0-7BD3-937F-8A4688872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Geolocation (Geospatial queries) gives us?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11977-9091-E612-D9AB-52FF73702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Find places near location</a:t>
            </a:r>
          </a:p>
          <a:p>
            <a:r>
              <a:rPr lang="en-GB" dirty="0"/>
              <a:t>Find places within certain area</a:t>
            </a:r>
          </a:p>
          <a:p>
            <a:r>
              <a:rPr lang="en-GB" dirty="0"/>
              <a:t>Find places within certain distance</a:t>
            </a:r>
          </a:p>
        </p:txBody>
      </p:sp>
    </p:spTree>
    <p:extLst>
      <p:ext uri="{BB962C8B-B14F-4D97-AF65-F5344CB8AC3E}">
        <p14:creationId xmlns:p14="http://schemas.microsoft.com/office/powerpoint/2010/main" val="3366785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13B17-328E-BC6C-1941-9BBC90CD9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MongoDB makes it possible?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A8961-7A49-9FDA-58D3-98E57E097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can store location data</a:t>
            </a:r>
          </a:p>
          <a:p>
            <a:r>
              <a:rPr lang="en-GB" dirty="0"/>
              <a:t>It can search through this location data</a:t>
            </a:r>
          </a:p>
        </p:txBody>
      </p:sp>
    </p:spTree>
    <p:extLst>
      <p:ext uri="{BB962C8B-B14F-4D97-AF65-F5344CB8AC3E}">
        <p14:creationId xmlns:p14="http://schemas.microsoft.com/office/powerpoint/2010/main" val="2768782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D99D5-E2C6-4E14-541E-70063D236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Location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BC940-63FF-E6D2-CE6F-0E4A574BA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87548" cy="4351338"/>
          </a:xfrm>
        </p:spPr>
        <p:txBody>
          <a:bodyPr/>
          <a:lstStyle/>
          <a:p>
            <a:r>
              <a:rPr lang="en-GB" dirty="0"/>
              <a:t>Stored in </a:t>
            </a:r>
            <a:r>
              <a:rPr lang="en-GB" dirty="0" err="1"/>
              <a:t>GeoJSON</a:t>
            </a:r>
            <a:r>
              <a:rPr lang="en-GB" dirty="0"/>
              <a:t> format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17737C-30FC-7A98-5505-83E72A60B7C5}"/>
              </a:ext>
            </a:extLst>
          </p:cNvPr>
          <p:cNvSpPr txBox="1"/>
          <p:nvPr/>
        </p:nvSpPr>
        <p:spPr>
          <a:xfrm>
            <a:off x="2127377" y="3097763"/>
            <a:ext cx="68020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{</a:t>
            </a:r>
          </a:p>
          <a:p>
            <a:r>
              <a:rPr lang="en-GB" dirty="0">
                <a:latin typeface="Consolas" panose="020B0609020204030204" pitchFamily="49" charset="0"/>
              </a:rPr>
              <a:t>	_id: </a:t>
            </a:r>
            <a:r>
              <a:rPr lang="en-GB" dirty="0" err="1">
                <a:latin typeface="Consolas" panose="020B0609020204030204" pitchFamily="49" charset="0"/>
              </a:rPr>
              <a:t>ObjectId</a:t>
            </a:r>
            <a:r>
              <a:rPr lang="en-GB" dirty="0">
                <a:latin typeface="Consolas" panose="020B0609020204030204" pitchFamily="49" charset="0"/>
              </a:rPr>
              <a:t>(…), </a:t>
            </a:r>
          </a:p>
          <a:p>
            <a:r>
              <a:rPr lang="en-GB" dirty="0">
                <a:latin typeface="Consolas" panose="020B0609020204030204" pitchFamily="49" charset="0"/>
              </a:rPr>
              <a:t>	…</a:t>
            </a:r>
          </a:p>
          <a:p>
            <a:r>
              <a:rPr lang="en-GB" dirty="0">
                <a:latin typeface="Consolas" panose="020B0609020204030204" pitchFamily="49" charset="0"/>
              </a:rPr>
              <a:t>	…</a:t>
            </a:r>
          </a:p>
          <a:p>
            <a:r>
              <a:rPr lang="en-GB" dirty="0">
                <a:latin typeface="Consolas" panose="020B0609020204030204" pitchFamily="49" charset="0"/>
              </a:rPr>
              <a:t>	</a:t>
            </a:r>
            <a:r>
              <a:rPr lang="en-GB" dirty="0">
                <a:solidFill>
                  <a:schemeClr val="accent4"/>
                </a:solidFill>
                <a:latin typeface="Consolas" panose="020B0609020204030204" pitchFamily="49" charset="0"/>
              </a:rPr>
              <a:t>“geometry”</a:t>
            </a:r>
            <a:r>
              <a:rPr lang="en-GB" dirty="0">
                <a:latin typeface="Consolas" panose="020B0609020204030204" pitchFamily="49" charset="0"/>
              </a:rPr>
              <a:t>:  {</a:t>
            </a:r>
          </a:p>
          <a:p>
            <a:r>
              <a:rPr lang="en-GB" dirty="0">
                <a:latin typeface="Consolas" panose="020B0609020204030204" pitchFamily="49" charset="0"/>
              </a:rPr>
              <a:t>		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“type”</a:t>
            </a:r>
            <a:r>
              <a:rPr lang="en-GB" dirty="0">
                <a:latin typeface="Consolas" panose="020B0609020204030204" pitchFamily="49" charset="0"/>
              </a:rPr>
              <a:t>: "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Point</a:t>
            </a:r>
            <a:r>
              <a:rPr lang="en-GB" dirty="0">
                <a:latin typeface="Consolas" panose="020B0609020204030204" pitchFamily="49" charset="0"/>
              </a:rPr>
              <a:t>",</a:t>
            </a:r>
          </a:p>
          <a:p>
            <a:r>
              <a:rPr lang="en-GB" dirty="0">
                <a:latin typeface="Consolas" panose="020B0609020204030204" pitchFamily="49" charset="0"/>
              </a:rPr>
              <a:t>		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“coordinates”</a:t>
            </a:r>
            <a:r>
              <a:rPr lang="en-GB" dirty="0">
                <a:latin typeface="Consolas" panose="020B0609020204030204" pitchFamily="49" charset="0"/>
              </a:rPr>
              <a:t>: </a:t>
            </a:r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[-73.856077, 40.848447]</a:t>
            </a:r>
          </a:p>
          <a:p>
            <a:r>
              <a:rPr lang="en-GB" dirty="0">
                <a:latin typeface="Consolas" panose="020B0609020204030204" pitchFamily="49" charset="0"/>
              </a:rPr>
              <a:t>	}</a:t>
            </a:r>
          </a:p>
          <a:p>
            <a:r>
              <a:rPr lang="en-GB" dirty="0">
                <a:latin typeface="Consolas" panose="020B0609020204030204" pitchFamily="49" charset="0"/>
              </a:rPr>
              <a:t>	…</a:t>
            </a:r>
          </a:p>
          <a:p>
            <a:r>
              <a:rPr lang="en-GB" dirty="0"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5ED37C0-A6F4-D85F-EC91-5912AB6BDBFB}"/>
              </a:ext>
            </a:extLst>
          </p:cNvPr>
          <p:cNvCxnSpPr/>
          <p:nvPr/>
        </p:nvCxnSpPr>
        <p:spPr>
          <a:xfrm>
            <a:off x="8929393" y="4945224"/>
            <a:ext cx="11383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1C5A311-774C-409D-FD76-027EC05AA1AB}"/>
              </a:ext>
            </a:extLst>
          </p:cNvPr>
          <p:cNvCxnSpPr/>
          <p:nvPr/>
        </p:nvCxnSpPr>
        <p:spPr>
          <a:xfrm>
            <a:off x="6102216" y="4599992"/>
            <a:ext cx="39655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946007-6D9C-2394-20E4-999C272138AB}"/>
              </a:ext>
            </a:extLst>
          </p:cNvPr>
          <p:cNvCxnSpPr/>
          <p:nvPr/>
        </p:nvCxnSpPr>
        <p:spPr>
          <a:xfrm flipH="1">
            <a:off x="2127377" y="4413380"/>
            <a:ext cx="8957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9E6FC88-13BF-5680-9684-85DE8D79D504}"/>
              </a:ext>
            </a:extLst>
          </p:cNvPr>
          <p:cNvSpPr txBox="1"/>
          <p:nvPr/>
        </p:nvSpPr>
        <p:spPr>
          <a:xfrm>
            <a:off x="0" y="4120992"/>
            <a:ext cx="1909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600" dirty="0"/>
              <a:t>Field, storing </a:t>
            </a:r>
            <a:r>
              <a:rPr lang="en-GB" sz="1600" dirty="0" err="1"/>
              <a:t>GeoJSON</a:t>
            </a:r>
            <a:r>
              <a:rPr lang="en-GB" sz="1600" dirty="0"/>
              <a:t> 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482EF3-318A-910F-0E14-7A5D6C7109FC}"/>
              </a:ext>
            </a:extLst>
          </p:cNvPr>
          <p:cNvSpPr txBox="1"/>
          <p:nvPr/>
        </p:nvSpPr>
        <p:spPr>
          <a:xfrm>
            <a:off x="10241902" y="4367213"/>
            <a:ext cx="17354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/>
              <a:t>GeoJSON</a:t>
            </a:r>
            <a:r>
              <a:rPr lang="en-GB" sz="1600" dirty="0"/>
              <a:t> type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0A5ECB-EC22-167C-2042-584BEB12515B}"/>
              </a:ext>
            </a:extLst>
          </p:cNvPr>
          <p:cNvSpPr txBox="1"/>
          <p:nvPr/>
        </p:nvSpPr>
        <p:spPr>
          <a:xfrm>
            <a:off x="10241902" y="4736545"/>
            <a:ext cx="1950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Coordinates (depending on type)</a:t>
            </a:r>
          </a:p>
        </p:txBody>
      </p:sp>
    </p:spTree>
    <p:extLst>
      <p:ext uri="{BB962C8B-B14F-4D97-AF65-F5344CB8AC3E}">
        <p14:creationId xmlns:p14="http://schemas.microsoft.com/office/powerpoint/2010/main" val="907454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3872E-D190-AE2C-5157-89300D27A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GeoJSON</a:t>
            </a:r>
            <a:r>
              <a:rPr lang="en-GB" dirty="0"/>
              <a:t> -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03A15-BB44-FC65-79B2-412E4389E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Point</a:t>
            </a:r>
          </a:p>
          <a:p>
            <a:r>
              <a:rPr lang="en-GB" dirty="0" err="1"/>
              <a:t>LineString</a:t>
            </a:r>
            <a:endParaRPr lang="en-GB" dirty="0"/>
          </a:p>
          <a:p>
            <a:r>
              <a:rPr lang="en-GB" dirty="0"/>
              <a:t>Polygon</a:t>
            </a:r>
          </a:p>
          <a:p>
            <a:r>
              <a:rPr lang="en-GB" dirty="0"/>
              <a:t>and others…</a:t>
            </a:r>
          </a:p>
        </p:txBody>
      </p:sp>
    </p:spTree>
    <p:extLst>
      <p:ext uri="{BB962C8B-B14F-4D97-AF65-F5344CB8AC3E}">
        <p14:creationId xmlns:p14="http://schemas.microsoft.com/office/powerpoint/2010/main" val="2600494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B4672-06E6-59D3-8E68-201F5C42A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GeoJSON</a:t>
            </a:r>
            <a:r>
              <a:rPr lang="en-GB" dirty="0"/>
              <a:t> Type -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20311-1DC9-C8C3-5473-0D61D6E1B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02971"/>
          </a:xfrm>
        </p:spPr>
        <p:txBody>
          <a:bodyPr/>
          <a:lstStyle/>
          <a:p>
            <a:r>
              <a:rPr lang="en-GB" dirty="0"/>
              <a:t>Usually represents Places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7DAAD066-4D81-C33E-6FAE-6BCF0D687D27}"/>
              </a:ext>
            </a:extLst>
          </p:cNvPr>
          <p:cNvSpPr/>
          <p:nvPr/>
        </p:nvSpPr>
        <p:spPr>
          <a:xfrm>
            <a:off x="2547257" y="2957804"/>
            <a:ext cx="317240" cy="31724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6ED6E4-989E-A200-6AEA-5D982EFFA809}"/>
              </a:ext>
            </a:extLst>
          </p:cNvPr>
          <p:cNvSpPr txBox="1"/>
          <p:nvPr/>
        </p:nvSpPr>
        <p:spPr>
          <a:xfrm>
            <a:off x="838200" y="4033944"/>
            <a:ext cx="89317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4"/>
                </a:solidFill>
                <a:latin typeface="Consolas" panose="020B0609020204030204" pitchFamily="49" charset="0"/>
              </a:rPr>
              <a:t>“geometry”</a:t>
            </a:r>
            <a:r>
              <a:rPr lang="en-GB" dirty="0">
                <a:latin typeface="Consolas" panose="020B0609020204030204" pitchFamily="49" charset="0"/>
              </a:rPr>
              <a:t>:  {</a:t>
            </a:r>
          </a:p>
          <a:p>
            <a:r>
              <a:rPr lang="en-GB" dirty="0">
                <a:latin typeface="Consolas" panose="020B0609020204030204" pitchFamily="49" charset="0"/>
              </a:rPr>
              <a:t>		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“type”</a:t>
            </a:r>
            <a:r>
              <a:rPr lang="en-GB" dirty="0">
                <a:latin typeface="Consolas" panose="020B0609020204030204" pitchFamily="49" charset="0"/>
              </a:rPr>
              <a:t>: "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Point</a:t>
            </a:r>
            <a:r>
              <a:rPr lang="en-GB" dirty="0">
                <a:latin typeface="Consolas" panose="020B0609020204030204" pitchFamily="49" charset="0"/>
              </a:rPr>
              <a:t>",</a:t>
            </a:r>
          </a:p>
          <a:p>
            <a:r>
              <a:rPr lang="en-GB" dirty="0">
                <a:latin typeface="Consolas" panose="020B0609020204030204" pitchFamily="49" charset="0"/>
              </a:rPr>
              <a:t>		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“coordinates”</a:t>
            </a:r>
            <a:r>
              <a:rPr lang="en-GB" dirty="0">
                <a:latin typeface="Consolas" panose="020B0609020204030204" pitchFamily="49" charset="0"/>
              </a:rPr>
              <a:t>: </a:t>
            </a:r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[-73.856077, 40.848447]</a:t>
            </a:r>
          </a:p>
          <a:p>
            <a:r>
              <a:rPr lang="en-GB" dirty="0">
                <a:latin typeface="Consolas" panose="020B06090202040302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97742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B4672-06E6-59D3-8E68-201F5C42A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GeoJSON</a:t>
            </a:r>
            <a:r>
              <a:rPr lang="en-GB" dirty="0"/>
              <a:t> Type - </a:t>
            </a:r>
            <a:r>
              <a:rPr lang="en-GB" dirty="0" err="1"/>
              <a:t>LineString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20311-1DC9-C8C3-5473-0D61D6E1B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02971"/>
          </a:xfrm>
        </p:spPr>
        <p:txBody>
          <a:bodyPr/>
          <a:lstStyle/>
          <a:p>
            <a:r>
              <a:rPr lang="en-GB" dirty="0"/>
              <a:t>Used to represent Streets, Rivers, Trails, etc…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6ED6E4-989E-A200-6AEA-5D982EFFA809}"/>
              </a:ext>
            </a:extLst>
          </p:cNvPr>
          <p:cNvSpPr txBox="1"/>
          <p:nvPr/>
        </p:nvSpPr>
        <p:spPr>
          <a:xfrm>
            <a:off x="838200" y="4033944"/>
            <a:ext cx="89317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4"/>
                </a:solidFill>
                <a:latin typeface="Consolas" panose="020B0609020204030204" pitchFamily="49" charset="0"/>
              </a:rPr>
              <a:t>“geometry”</a:t>
            </a:r>
            <a:r>
              <a:rPr lang="en-GB" dirty="0">
                <a:latin typeface="Consolas" panose="020B0609020204030204" pitchFamily="49" charset="0"/>
              </a:rPr>
              <a:t>:  {</a:t>
            </a:r>
          </a:p>
          <a:p>
            <a:r>
              <a:rPr lang="en-GB" dirty="0">
                <a:latin typeface="Consolas" panose="020B0609020204030204" pitchFamily="49" charset="0"/>
              </a:rPr>
              <a:t>		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“type”</a:t>
            </a:r>
            <a:r>
              <a:rPr lang="en-GB" dirty="0">
                <a:latin typeface="Consolas" panose="020B0609020204030204" pitchFamily="49" charset="0"/>
              </a:rPr>
              <a:t>: “</a:t>
            </a:r>
            <a:r>
              <a:rPr lang="en-GB" dirty="0" err="1">
                <a:solidFill>
                  <a:schemeClr val="accent6"/>
                </a:solidFill>
                <a:latin typeface="Consolas" panose="020B0609020204030204" pitchFamily="49" charset="0"/>
              </a:rPr>
              <a:t>LineString</a:t>
            </a:r>
            <a:r>
              <a:rPr lang="en-GB" dirty="0">
                <a:latin typeface="Consolas" panose="020B0609020204030204" pitchFamily="49" charset="0"/>
              </a:rPr>
              <a:t>",</a:t>
            </a:r>
          </a:p>
          <a:p>
            <a:r>
              <a:rPr lang="en-GB" dirty="0">
                <a:latin typeface="Consolas" panose="020B0609020204030204" pitchFamily="49" charset="0"/>
              </a:rPr>
              <a:t>		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“coordinates”</a:t>
            </a:r>
            <a:r>
              <a:rPr lang="en-GB" dirty="0">
                <a:latin typeface="Consolas" panose="020B0609020204030204" pitchFamily="49" charset="0"/>
              </a:rPr>
              <a:t>: [</a:t>
            </a:r>
          </a:p>
          <a:p>
            <a:r>
              <a:rPr lang="en-GB" dirty="0">
                <a:latin typeface="Consolas" panose="020B0609020204030204" pitchFamily="49" charset="0"/>
              </a:rPr>
              <a:t>					</a:t>
            </a:r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[23.315, 42.694], </a:t>
            </a:r>
          </a:p>
          <a:p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					[23.330, 42.710], </a:t>
            </a:r>
          </a:p>
          <a:p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					[23.330, 42.710], </a:t>
            </a:r>
          </a:p>
          <a:p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					[23.330, 42.710]</a:t>
            </a:r>
          </a:p>
          <a:p>
            <a:r>
              <a:rPr lang="en-GB" dirty="0">
                <a:latin typeface="Consolas" panose="020B0609020204030204" pitchFamily="49" charset="0"/>
              </a:rPr>
              <a:t>				]</a:t>
            </a:r>
            <a:endParaRPr lang="en-GB" dirty="0">
              <a:solidFill>
                <a:schemeClr val="accent5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	}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F78F5A5-2252-421F-9447-8C924A4C8B1B}"/>
              </a:ext>
            </a:extLst>
          </p:cNvPr>
          <p:cNvSpPr/>
          <p:nvPr/>
        </p:nvSpPr>
        <p:spPr>
          <a:xfrm>
            <a:off x="2556588" y="2953440"/>
            <a:ext cx="5243804" cy="475560"/>
          </a:xfrm>
          <a:custGeom>
            <a:avLst/>
            <a:gdLst>
              <a:gd name="connsiteX0" fmla="*/ 0 w 3219061"/>
              <a:gd name="connsiteY0" fmla="*/ 0 h 242596"/>
              <a:gd name="connsiteX1" fmla="*/ 737118 w 3219061"/>
              <a:gd name="connsiteY1" fmla="*/ 242596 h 242596"/>
              <a:gd name="connsiteX2" fmla="*/ 1604865 w 3219061"/>
              <a:gd name="connsiteY2" fmla="*/ 111967 h 242596"/>
              <a:gd name="connsiteX3" fmla="*/ 3219061 w 3219061"/>
              <a:gd name="connsiteY3" fmla="*/ 139959 h 24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19061" h="242596">
                <a:moveTo>
                  <a:pt x="0" y="0"/>
                </a:moveTo>
                <a:lnTo>
                  <a:pt x="737118" y="242596"/>
                </a:lnTo>
                <a:lnTo>
                  <a:pt x="1604865" y="111967"/>
                </a:lnTo>
                <a:lnTo>
                  <a:pt x="3219061" y="139959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409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B4672-06E6-59D3-8E68-201F5C42A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GeoJSON</a:t>
            </a:r>
            <a:r>
              <a:rPr lang="en-GB" dirty="0"/>
              <a:t> Type - Polygon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20311-1DC9-C8C3-5473-0D61D6E1B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02971"/>
          </a:xfrm>
        </p:spPr>
        <p:txBody>
          <a:bodyPr/>
          <a:lstStyle/>
          <a:p>
            <a:r>
              <a:rPr lang="en-GB" dirty="0"/>
              <a:t>Used to represent Neighbourhoods, Cities, Buildings, etc…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6ED6E4-989E-A200-6AEA-5D982EFFA809}"/>
              </a:ext>
            </a:extLst>
          </p:cNvPr>
          <p:cNvSpPr txBox="1"/>
          <p:nvPr/>
        </p:nvSpPr>
        <p:spPr>
          <a:xfrm>
            <a:off x="838200" y="4033944"/>
            <a:ext cx="89317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4"/>
                </a:solidFill>
                <a:latin typeface="Consolas" panose="020B0609020204030204" pitchFamily="49" charset="0"/>
              </a:rPr>
              <a:t>“geometry”</a:t>
            </a:r>
            <a:r>
              <a:rPr lang="en-GB" dirty="0">
                <a:latin typeface="Consolas" panose="020B0609020204030204" pitchFamily="49" charset="0"/>
              </a:rPr>
              <a:t>:  {</a:t>
            </a:r>
          </a:p>
          <a:p>
            <a:r>
              <a:rPr lang="en-GB" dirty="0">
                <a:latin typeface="Consolas" panose="020B0609020204030204" pitchFamily="49" charset="0"/>
              </a:rPr>
              <a:t>		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“type”</a:t>
            </a:r>
            <a:r>
              <a:rPr lang="en-GB" dirty="0">
                <a:latin typeface="Consolas" panose="020B0609020204030204" pitchFamily="49" charset="0"/>
              </a:rPr>
              <a:t>: “</a:t>
            </a:r>
            <a:r>
              <a:rPr lang="en-GB" dirty="0">
                <a:solidFill>
                  <a:schemeClr val="accent6"/>
                </a:solidFill>
                <a:latin typeface="Consolas" panose="020B0609020204030204" pitchFamily="49" charset="0"/>
              </a:rPr>
              <a:t>Polygon</a:t>
            </a:r>
            <a:r>
              <a:rPr lang="en-GB" dirty="0">
                <a:latin typeface="Consolas" panose="020B0609020204030204" pitchFamily="49" charset="0"/>
              </a:rPr>
              <a:t>",</a:t>
            </a:r>
          </a:p>
          <a:p>
            <a:r>
              <a:rPr lang="en-GB" dirty="0">
                <a:latin typeface="Consolas" panose="020B0609020204030204" pitchFamily="49" charset="0"/>
              </a:rPr>
              <a:t>		</a:t>
            </a:r>
            <a:r>
              <a:rPr lang="en-GB" dirty="0">
                <a:solidFill>
                  <a:schemeClr val="accent2"/>
                </a:solidFill>
                <a:latin typeface="Consolas" panose="020B0609020204030204" pitchFamily="49" charset="0"/>
              </a:rPr>
              <a:t>“coordinates”</a:t>
            </a:r>
            <a:r>
              <a:rPr lang="en-GB" dirty="0">
                <a:latin typeface="Consolas" panose="020B0609020204030204" pitchFamily="49" charset="0"/>
              </a:rPr>
              <a:t>: [[</a:t>
            </a:r>
          </a:p>
          <a:p>
            <a:r>
              <a:rPr lang="en-GB" dirty="0">
                <a:latin typeface="Consolas" panose="020B0609020204030204" pitchFamily="49" charset="0"/>
              </a:rPr>
              <a:t>					</a:t>
            </a:r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[23.3180, 42.6960],</a:t>
            </a:r>
          </a:p>
          <a:p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					[23.3240, 42.6960],</a:t>
            </a:r>
          </a:p>
          <a:p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         				[23.3240, 42.7020],</a:t>
            </a:r>
          </a:p>
          <a:p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         				[23.3180, 42.7020],</a:t>
            </a:r>
          </a:p>
          <a:p>
            <a:r>
              <a:rPr lang="en-GB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         				[23.3180, 42.6960]</a:t>
            </a:r>
            <a:r>
              <a:rPr lang="en-GB" dirty="0">
                <a:latin typeface="Consolas" panose="020B0609020204030204" pitchFamily="49" charset="0"/>
              </a:rPr>
              <a:t>				]]</a:t>
            </a:r>
            <a:endParaRPr lang="en-GB" dirty="0">
              <a:solidFill>
                <a:schemeClr val="accent5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dirty="0">
                <a:latin typeface="Consolas" panose="020B0609020204030204" pitchFamily="49" charset="0"/>
              </a:rPr>
              <a:t>	}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6A306C5-4A61-2770-AE94-A4219EC1C69A}"/>
              </a:ext>
            </a:extLst>
          </p:cNvPr>
          <p:cNvSpPr/>
          <p:nvPr/>
        </p:nvSpPr>
        <p:spPr>
          <a:xfrm>
            <a:off x="3377682" y="2491574"/>
            <a:ext cx="3498979" cy="1408923"/>
          </a:xfrm>
          <a:custGeom>
            <a:avLst/>
            <a:gdLst>
              <a:gd name="connsiteX0" fmla="*/ 718457 w 3498979"/>
              <a:gd name="connsiteY0" fmla="*/ 0 h 1408923"/>
              <a:gd name="connsiteX1" fmla="*/ 3498979 w 3498979"/>
              <a:gd name="connsiteY1" fmla="*/ 149290 h 1408923"/>
              <a:gd name="connsiteX2" fmla="*/ 3069771 w 3498979"/>
              <a:gd name="connsiteY2" fmla="*/ 1408923 h 1408923"/>
              <a:gd name="connsiteX3" fmla="*/ 0 w 3498979"/>
              <a:gd name="connsiteY3" fmla="*/ 1045029 h 1408923"/>
              <a:gd name="connsiteX4" fmla="*/ 718457 w 3498979"/>
              <a:gd name="connsiteY4" fmla="*/ 0 h 1408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98979" h="1408923">
                <a:moveTo>
                  <a:pt x="718457" y="0"/>
                </a:moveTo>
                <a:lnTo>
                  <a:pt x="3498979" y="149290"/>
                </a:lnTo>
                <a:lnTo>
                  <a:pt x="3069771" y="1408923"/>
                </a:lnTo>
                <a:lnTo>
                  <a:pt x="0" y="1045029"/>
                </a:lnTo>
                <a:lnTo>
                  <a:pt x="718457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027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A5FD3-162C-8071-ECD0-AD9B79A78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GeoJSON</a:t>
            </a:r>
            <a:r>
              <a:rPr lang="en-GB" dirty="0"/>
              <a:t> – Coordinates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06966-07CD-674E-2BA6-B1E9C1512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[longitude, latitude]</a:t>
            </a:r>
          </a:p>
          <a:p>
            <a:r>
              <a:rPr lang="en-GB" sz="2400" dirty="0"/>
              <a:t>Sofia is around ~ </a:t>
            </a:r>
            <a:r>
              <a:rPr lang="en-GB" sz="2400" b="1" i="0" dirty="0">
                <a:solidFill>
                  <a:srgbClr val="314659"/>
                </a:solidFill>
                <a:effectLst/>
                <a:latin typeface="IBM Plex Mono" panose="020B0509050203000203" pitchFamily="49" charset="-52"/>
              </a:rPr>
              <a:t>[23.3199, 42.6983]</a:t>
            </a:r>
          </a:p>
          <a:p>
            <a:r>
              <a:rPr lang="en-GB" sz="2400" dirty="0"/>
              <a:t>In Google Maps, they are the opposite order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80C8C12-9C9A-8311-3AB3-F483E7525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90850" y="3254375"/>
            <a:ext cx="62103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957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2C931-FAC2-D373-FB6E-28EF5F917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– 2dsphere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4FB7C6-6947-F7B2-A1D6-A5FF41385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804" y="1690688"/>
            <a:ext cx="7800392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785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33B17-9355-1296-FF71-A5B2E198D4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Let’s go with the sample Queries!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9B4C3-1465-C5CC-B938-188003BFF5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2502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5EFC7-7A90-45A4-E711-56565A958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places near a Point </a:t>
            </a:r>
            <a:r>
              <a:rPr lang="en-GB" b="1" dirty="0"/>
              <a:t>($near</a:t>
            </a:r>
            <a:r>
              <a:rPr lang="en-GB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D5063-ECEB-3EBA-4D10-735C5F13B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00074"/>
            <a:ext cx="5257800" cy="377216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   &lt;location field&gt;: {</a:t>
            </a:r>
          </a:p>
          <a:p>
            <a:pPr marL="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     $near: {</a:t>
            </a:r>
          </a:p>
          <a:p>
            <a:pPr marL="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       $geometry: {</a:t>
            </a:r>
          </a:p>
          <a:p>
            <a:pPr marL="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          type: "Point" ,</a:t>
            </a:r>
          </a:p>
          <a:p>
            <a:pPr marL="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          coordinates: [ &lt;longitude&gt; , &lt;latitude&gt; ]</a:t>
            </a:r>
          </a:p>
          <a:p>
            <a:pPr marL="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       },</a:t>
            </a:r>
          </a:p>
          <a:p>
            <a:pPr marL="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       $</a:t>
            </a:r>
            <a:r>
              <a:rPr lang="en-GB" sz="1400" dirty="0" err="1">
                <a:latin typeface="Consolas" panose="020B0609020204030204" pitchFamily="49" charset="0"/>
              </a:rPr>
              <a:t>maxDistance</a:t>
            </a:r>
            <a:r>
              <a:rPr lang="en-GB" sz="1400" dirty="0">
                <a:latin typeface="Consolas" panose="020B0609020204030204" pitchFamily="49" charset="0"/>
              </a:rPr>
              <a:t>: &lt;distance in meters&gt;,</a:t>
            </a:r>
          </a:p>
          <a:p>
            <a:pPr marL="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       $</a:t>
            </a:r>
            <a:r>
              <a:rPr lang="en-GB" sz="1400" dirty="0" err="1">
                <a:latin typeface="Consolas" panose="020B0609020204030204" pitchFamily="49" charset="0"/>
              </a:rPr>
              <a:t>minDistance</a:t>
            </a:r>
            <a:r>
              <a:rPr lang="en-GB" sz="1400" dirty="0">
                <a:latin typeface="Consolas" panose="020B0609020204030204" pitchFamily="49" charset="0"/>
              </a:rPr>
              <a:t>: &lt;distance in meters&gt;</a:t>
            </a:r>
          </a:p>
          <a:p>
            <a:pPr marL="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     }</a:t>
            </a:r>
          </a:p>
          <a:p>
            <a:pPr marL="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GB" sz="1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E0EDE7A-8CE2-FBEF-992E-0553E9E31388}"/>
              </a:ext>
            </a:extLst>
          </p:cNvPr>
          <p:cNvSpPr txBox="1">
            <a:spLocks/>
          </p:cNvSpPr>
          <p:nvPr/>
        </p:nvSpPr>
        <p:spPr>
          <a:xfrm>
            <a:off x="6281058" y="2600074"/>
            <a:ext cx="5257800" cy="3772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4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400" dirty="0">
                <a:latin typeface="Consolas" panose="020B0609020204030204" pitchFamily="49" charset="0"/>
              </a:rPr>
              <a:t>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"geometry"</a:t>
            </a:r>
            <a:r>
              <a:rPr lang="en-GB" sz="1400" dirty="0">
                <a:latin typeface="Consolas" panose="020B0609020204030204" pitchFamily="49" charset="0"/>
              </a:rPr>
              <a:t>: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400" dirty="0">
                <a:latin typeface="Consolas" panose="020B0609020204030204" pitchFamily="49" charset="0"/>
              </a:rPr>
              <a:t>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"$near"</a:t>
            </a:r>
            <a:r>
              <a:rPr lang="en-GB" sz="1400" dirty="0">
                <a:latin typeface="Consolas" panose="020B0609020204030204" pitchFamily="49" charset="0"/>
              </a:rPr>
              <a:t>: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400" dirty="0">
                <a:latin typeface="Consolas" panose="020B0609020204030204" pitchFamily="49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"$geometry"</a:t>
            </a:r>
            <a:r>
              <a:rPr lang="en-GB" sz="1400" dirty="0">
                <a:latin typeface="Consolas" panose="020B0609020204030204" pitchFamily="49" charset="0"/>
              </a:rPr>
              <a:t>: {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400" dirty="0">
                <a:latin typeface="Consolas" panose="020B0609020204030204" pitchFamily="49" charset="0"/>
              </a:rPr>
              <a:t>    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"type"</a:t>
            </a:r>
            <a:r>
              <a:rPr lang="en-GB" sz="1400" dirty="0"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chemeClr val="accent6"/>
                </a:solidFill>
                <a:latin typeface="Consolas" panose="020B0609020204030204" pitchFamily="49" charset="0"/>
              </a:rPr>
              <a:t>"Point"</a:t>
            </a:r>
            <a:r>
              <a:rPr lang="en-GB" sz="1400" dirty="0">
                <a:latin typeface="Consolas" panose="020B0609020204030204" pitchFamily="49" charset="0"/>
              </a:rPr>
              <a:t>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        "coordinates"</a:t>
            </a:r>
            <a:r>
              <a:rPr lang="en-GB" sz="1400" dirty="0">
                <a:latin typeface="Consolas" panose="020B0609020204030204" pitchFamily="49" charset="0"/>
              </a:rPr>
              <a:t>: [</a:t>
            </a:r>
            <a:r>
              <a:rPr lang="en-GB" sz="1400" dirty="0">
                <a:solidFill>
                  <a:schemeClr val="accent5"/>
                </a:solidFill>
                <a:latin typeface="Consolas" panose="020B0609020204030204" pitchFamily="49" charset="0"/>
              </a:rPr>
              <a:t>23.3199, 42.6983</a:t>
            </a:r>
            <a:r>
              <a:rPr lang="en-GB" sz="1400" dirty="0">
                <a:latin typeface="Consolas" panose="020B0609020204030204" pitchFamily="49" charset="0"/>
              </a:rPr>
              <a:t>]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400" dirty="0">
                <a:latin typeface="Consolas" panose="020B0609020204030204" pitchFamily="49" charset="0"/>
              </a:rPr>
              <a:t>      },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400" dirty="0">
                <a:latin typeface="Consolas" panose="020B0609020204030204" pitchFamily="49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"$</a:t>
            </a:r>
            <a:r>
              <a:rPr lang="en-GB" sz="1400" dirty="0" err="1">
                <a:solidFill>
                  <a:schemeClr val="accent2"/>
                </a:solidFill>
                <a:latin typeface="Consolas" panose="020B0609020204030204" pitchFamily="49" charset="0"/>
              </a:rPr>
              <a:t>maxDistance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</a:rPr>
              <a:t>"</a:t>
            </a:r>
            <a:r>
              <a:rPr lang="en-GB" sz="1400" dirty="0">
                <a:latin typeface="Consolas" panose="020B0609020204030204" pitchFamily="49" charset="0"/>
              </a:rPr>
              <a:t>: </a:t>
            </a:r>
            <a:r>
              <a:rPr lang="en-GB" sz="1400" dirty="0">
                <a:solidFill>
                  <a:schemeClr val="accent5"/>
                </a:solidFill>
                <a:latin typeface="Consolas" panose="020B0609020204030204" pitchFamily="49" charset="0"/>
              </a:rPr>
              <a:t>500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400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400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CABB52-A6B8-9C1A-48E1-7C2D91CD039F}"/>
              </a:ext>
            </a:extLst>
          </p:cNvPr>
          <p:cNvSpPr txBox="1"/>
          <p:nvPr/>
        </p:nvSpPr>
        <p:spPr>
          <a:xfrm>
            <a:off x="838199" y="1507382"/>
            <a:ext cx="93414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Usage: To find places within certain Radius from specified Point, in sorted Distance order, nearest first.</a:t>
            </a:r>
          </a:p>
        </p:txBody>
      </p:sp>
    </p:spTree>
    <p:extLst>
      <p:ext uri="{BB962C8B-B14F-4D97-AF65-F5344CB8AC3E}">
        <p14:creationId xmlns:p14="http://schemas.microsoft.com/office/powerpoint/2010/main" val="829362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CC82F-3738-AE53-652B-935CB162F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Filtering places by Distance within a circle by using </a:t>
            </a:r>
            <a:r>
              <a:rPr lang="en-GB" b="1" dirty="0"/>
              <a:t>$</a:t>
            </a:r>
            <a:r>
              <a:rPr lang="en-GB" b="1" dirty="0" err="1"/>
              <a:t>geoWithin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FD0B9-9A3E-D7EA-0373-73BD4EDE0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Usage: Find places within certain Radius from specified </a:t>
            </a:r>
            <a:r>
              <a:rPr lang="en-GB" dirty="0" err="1"/>
              <a:t>Center</a:t>
            </a:r>
            <a:r>
              <a:rPr lang="en-GB" dirty="0"/>
              <a:t> Point (i.e. circle query), </a:t>
            </a:r>
            <a:r>
              <a:rPr lang="en-GB" b="1" dirty="0"/>
              <a:t>WITHOUT sorting by Distance</a:t>
            </a:r>
            <a:r>
              <a:rPr lang="en-GB" dirty="0"/>
              <a:t>.  </a:t>
            </a:r>
          </a:p>
          <a:p>
            <a:r>
              <a:rPr lang="en-GB" dirty="0"/>
              <a:t>Benefit: Faster query compared to </a:t>
            </a:r>
            <a:r>
              <a:rPr lang="en-GB" b="1" dirty="0"/>
              <a:t>$near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BF8C70-B512-54F3-B03C-C10D2DA4D00A}"/>
              </a:ext>
            </a:extLst>
          </p:cNvPr>
          <p:cNvSpPr txBox="1"/>
          <p:nvPr/>
        </p:nvSpPr>
        <p:spPr>
          <a:xfrm>
            <a:off x="4439035" y="4752439"/>
            <a:ext cx="765965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</a:rPr>
              <a:t>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"geometry"</a:t>
            </a:r>
            <a:r>
              <a:rPr lang="en-GB" sz="1600" dirty="0">
                <a:latin typeface="Consolas" panose="020B0609020204030204" pitchFamily="49" charset="0"/>
              </a:rPr>
              <a:t>: 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"$</a:t>
            </a:r>
            <a:r>
              <a:rPr lang="en-GB" sz="1600" dirty="0" err="1">
                <a:solidFill>
                  <a:schemeClr val="accent2"/>
                </a:solidFill>
                <a:latin typeface="Consolas" panose="020B0609020204030204" pitchFamily="49" charset="0"/>
              </a:rPr>
              <a:t>geoWithin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"</a:t>
            </a:r>
            <a:r>
              <a:rPr lang="en-GB" sz="1600" dirty="0">
                <a:latin typeface="Consolas" panose="020B0609020204030204" pitchFamily="49" charset="0"/>
              </a:rPr>
              <a:t>: 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"$</a:t>
            </a:r>
            <a:r>
              <a:rPr lang="en-GB" sz="1600" dirty="0" err="1">
                <a:solidFill>
                  <a:schemeClr val="accent2"/>
                </a:solidFill>
                <a:latin typeface="Consolas" panose="020B0609020204030204" pitchFamily="49" charset="0"/>
              </a:rPr>
              <a:t>centerSphere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"</a:t>
            </a:r>
            <a:r>
              <a:rPr lang="en-GB" sz="1600" dirty="0">
                <a:latin typeface="Consolas" panose="020B0609020204030204" pitchFamily="49" charset="0"/>
              </a:rPr>
              <a:t>: [ </a:t>
            </a:r>
            <a:r>
              <a:rPr lang="en-GB" sz="1600" dirty="0">
                <a:solidFill>
                  <a:schemeClr val="accent5"/>
                </a:solidFill>
                <a:latin typeface="Consolas" panose="020B0609020204030204" pitchFamily="49" charset="0"/>
              </a:rPr>
              <a:t>[23.3199, 42.6983]</a:t>
            </a:r>
            <a:r>
              <a:rPr lang="en-GB" sz="1600" dirty="0">
                <a:latin typeface="Consolas" panose="020B0609020204030204" pitchFamily="49" charset="0"/>
              </a:rPr>
              <a:t>,  </a:t>
            </a:r>
            <a:r>
              <a:rPr lang="en-GB" sz="1600" dirty="0">
                <a:solidFill>
                  <a:schemeClr val="accent5"/>
                </a:solidFill>
                <a:latin typeface="Consolas" panose="020B0609020204030204" pitchFamily="49" charset="0"/>
              </a:rPr>
              <a:t>2/6378.1</a:t>
            </a:r>
            <a:r>
              <a:rPr lang="en-GB" sz="1600" dirty="0">
                <a:latin typeface="Consolas" panose="020B0609020204030204" pitchFamily="49" charset="0"/>
              </a:rPr>
              <a:t> ]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}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}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BE165E-EC37-EE7A-1D46-0BC81F0FA1F2}"/>
              </a:ext>
            </a:extLst>
          </p:cNvPr>
          <p:cNvSpPr txBox="1"/>
          <p:nvPr/>
        </p:nvSpPr>
        <p:spPr>
          <a:xfrm>
            <a:off x="1027146" y="3429000"/>
            <a:ext cx="609755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</a:rPr>
              <a:t>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&lt;location field&gt;: 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$</a:t>
            </a:r>
            <a:r>
              <a:rPr lang="en-GB" sz="1600" dirty="0" err="1">
                <a:latin typeface="Consolas" panose="020B0609020204030204" pitchFamily="49" charset="0"/>
              </a:rPr>
              <a:t>geoWithin</a:t>
            </a:r>
            <a:r>
              <a:rPr lang="en-GB" sz="1600" dirty="0">
                <a:latin typeface="Consolas" panose="020B0609020204030204" pitchFamily="49" charset="0"/>
              </a:rPr>
              <a:t>: { &lt;shape operator&gt;: &lt;coordinates&gt; }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}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10CC62-20DB-5D75-8397-491E4711B5D3}"/>
              </a:ext>
            </a:extLst>
          </p:cNvPr>
          <p:cNvCxnSpPr/>
          <p:nvPr/>
        </p:nvCxnSpPr>
        <p:spPr>
          <a:xfrm flipH="1">
            <a:off x="2724534" y="5660380"/>
            <a:ext cx="22953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00B9D67-922E-9E0A-F519-4CE0C1E271E1}"/>
              </a:ext>
            </a:extLst>
          </p:cNvPr>
          <p:cNvSpPr txBox="1"/>
          <p:nvPr/>
        </p:nvSpPr>
        <p:spPr>
          <a:xfrm>
            <a:off x="738668" y="5475714"/>
            <a:ext cx="229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Shape operator</a:t>
            </a:r>
          </a:p>
        </p:txBody>
      </p:sp>
    </p:spTree>
    <p:extLst>
      <p:ext uri="{BB962C8B-B14F-4D97-AF65-F5344CB8AC3E}">
        <p14:creationId xmlns:p14="http://schemas.microsoft.com/office/powerpoint/2010/main" val="2022880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33B17-9355-1296-FF71-A5B2E198D4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Quick Detour: </a:t>
            </a:r>
            <a:r>
              <a:rPr lang="en-GB" b="1" dirty="0"/>
              <a:t>$</a:t>
            </a:r>
            <a:r>
              <a:rPr lang="en-GB" b="1" dirty="0" err="1"/>
              <a:t>centerSphere</a:t>
            </a:r>
            <a:r>
              <a:rPr lang="en-GB" b="1" dirty="0"/>
              <a:t> </a:t>
            </a:r>
            <a:r>
              <a:rPr lang="en-GB" dirty="0"/>
              <a:t>operator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9B4C3-1465-C5CC-B938-188003BFF5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5597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C97D7-7C21-7F24-0ACD-9E867501D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$</a:t>
            </a:r>
            <a:r>
              <a:rPr lang="en-GB" b="1" dirty="0" err="1"/>
              <a:t>centerShpere</a:t>
            </a:r>
            <a:r>
              <a:rPr lang="en-GB" b="1" dirty="0"/>
              <a:t> </a:t>
            </a:r>
            <a:r>
              <a:rPr lang="en-GB" dirty="0"/>
              <a:t>operator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BE8E2-8435-A5BF-ACF7-C9D4C0296771}"/>
              </a:ext>
            </a:extLst>
          </p:cNvPr>
          <p:cNvSpPr txBox="1"/>
          <p:nvPr/>
        </p:nvSpPr>
        <p:spPr>
          <a:xfrm>
            <a:off x="838200" y="2210098"/>
            <a:ext cx="6767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chemeClr val="accent2"/>
                </a:solidFill>
                <a:latin typeface="Consolas" panose="020B0609020204030204" pitchFamily="49" charset="0"/>
              </a:rPr>
              <a:t>"$</a:t>
            </a:r>
            <a:r>
              <a:rPr lang="en-GB" sz="1800" dirty="0" err="1">
                <a:solidFill>
                  <a:schemeClr val="accent2"/>
                </a:solidFill>
                <a:latin typeface="Consolas" panose="020B0609020204030204" pitchFamily="49" charset="0"/>
              </a:rPr>
              <a:t>centerSphere</a:t>
            </a:r>
            <a:r>
              <a:rPr lang="en-GB" sz="1800" dirty="0">
                <a:solidFill>
                  <a:schemeClr val="accent2"/>
                </a:solidFill>
                <a:latin typeface="Consolas" panose="020B0609020204030204" pitchFamily="49" charset="0"/>
              </a:rPr>
              <a:t>"</a:t>
            </a:r>
            <a:r>
              <a:rPr lang="en-GB" sz="1800" dirty="0">
                <a:latin typeface="Consolas" panose="020B0609020204030204" pitchFamily="49" charset="0"/>
              </a:rPr>
              <a:t>: [ </a:t>
            </a:r>
            <a:r>
              <a:rPr lang="en-GB" sz="1800" dirty="0">
                <a:solidFill>
                  <a:schemeClr val="accent5"/>
                </a:solidFill>
                <a:latin typeface="Consolas" panose="020B0609020204030204" pitchFamily="49" charset="0"/>
              </a:rPr>
              <a:t>[23.3199, 42.6983]</a:t>
            </a:r>
            <a:r>
              <a:rPr lang="en-GB" sz="1800" dirty="0">
                <a:latin typeface="Consolas" panose="020B0609020204030204" pitchFamily="49" charset="0"/>
              </a:rPr>
              <a:t>,  </a:t>
            </a:r>
            <a:r>
              <a:rPr lang="en-GB" sz="1800" dirty="0">
                <a:solidFill>
                  <a:schemeClr val="accent5"/>
                </a:solidFill>
                <a:latin typeface="Consolas" panose="020B0609020204030204" pitchFamily="49" charset="0"/>
              </a:rPr>
              <a:t>2/6378.1</a:t>
            </a:r>
            <a:r>
              <a:rPr lang="en-GB" sz="1800" dirty="0">
                <a:latin typeface="Consolas" panose="020B0609020204030204" pitchFamily="49" charset="0"/>
              </a:rPr>
              <a:t> ]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7346B91-F50B-CA21-C2DE-C97185B966E3}"/>
              </a:ext>
            </a:extLst>
          </p:cNvPr>
          <p:cNvCxnSpPr/>
          <p:nvPr/>
        </p:nvCxnSpPr>
        <p:spPr>
          <a:xfrm>
            <a:off x="4357396" y="2579430"/>
            <a:ext cx="0" cy="453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5937B2C-24E7-2EC2-860D-E9E609E3248B}"/>
              </a:ext>
            </a:extLst>
          </p:cNvPr>
          <p:cNvCxnSpPr>
            <a:cxnSpLocks/>
          </p:cNvCxnSpPr>
          <p:nvPr/>
        </p:nvCxnSpPr>
        <p:spPr>
          <a:xfrm>
            <a:off x="6008915" y="2646006"/>
            <a:ext cx="0" cy="1221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B6678A3-6B8B-B277-0E48-B0583351BCC0}"/>
              </a:ext>
            </a:extLst>
          </p:cNvPr>
          <p:cNvCxnSpPr>
            <a:cxnSpLocks/>
          </p:cNvCxnSpPr>
          <p:nvPr/>
        </p:nvCxnSpPr>
        <p:spPr>
          <a:xfrm>
            <a:off x="6550091" y="2637207"/>
            <a:ext cx="0" cy="1945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D8D2E7F-75F1-537D-2590-14F8F5BF91B4}"/>
              </a:ext>
            </a:extLst>
          </p:cNvPr>
          <p:cNvSpPr txBox="1"/>
          <p:nvPr/>
        </p:nvSpPr>
        <p:spPr>
          <a:xfrm>
            <a:off x="2474947" y="3099026"/>
            <a:ext cx="2603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Center</a:t>
            </a:r>
            <a:r>
              <a:rPr lang="en-GB" dirty="0"/>
              <a:t> of the circle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07E81B-A07B-E022-D133-4A81D96071C8}"/>
              </a:ext>
            </a:extLst>
          </p:cNvPr>
          <p:cNvSpPr txBox="1"/>
          <p:nvPr/>
        </p:nvSpPr>
        <p:spPr>
          <a:xfrm>
            <a:off x="4707295" y="3959097"/>
            <a:ext cx="2603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Radius in km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D386B8-BEA9-5993-249F-8C35C30A4838}"/>
              </a:ext>
            </a:extLst>
          </p:cNvPr>
          <p:cNvSpPr txBox="1"/>
          <p:nvPr/>
        </p:nvSpPr>
        <p:spPr>
          <a:xfrm>
            <a:off x="5248471" y="4674350"/>
            <a:ext cx="2603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Radius of the Earth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0BB000-F655-7E2A-4238-43CB83A478AB}"/>
              </a:ext>
            </a:extLst>
          </p:cNvPr>
          <p:cNvSpPr txBox="1"/>
          <p:nvPr/>
        </p:nvSpPr>
        <p:spPr>
          <a:xfrm>
            <a:off x="5248471" y="1524991"/>
            <a:ext cx="3232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Radius of the circle in Radians</a:t>
            </a:r>
          </a:p>
        </p:txBody>
      </p:sp>
      <p:pic>
        <p:nvPicPr>
          <p:cNvPr id="5122" name="Picture 2" descr="Photograph of Earth taken by the Apollo 17 mission. The Arabian peninsula, Africa and Madagascar lie in the upper half of the disc, whereas Antarctica is at the bottom.">
            <a:extLst>
              <a:ext uri="{FF2B5EF4-FFF2-40B4-BE49-F238E27FC236}">
                <a16:creationId xmlns:a16="http://schemas.microsoft.com/office/drawing/2014/main" id="{C96D8015-3E7E-BD05-0FD9-2EF0D69B9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8469" y="3468358"/>
            <a:ext cx="2603233" cy="2603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DA97D6B-4DCC-D00B-DFD9-4C18C36DC295}"/>
              </a:ext>
            </a:extLst>
          </p:cNvPr>
          <p:cNvCxnSpPr/>
          <p:nvPr/>
        </p:nvCxnSpPr>
        <p:spPr>
          <a:xfrm flipH="1" flipV="1">
            <a:off x="9227976" y="4143763"/>
            <a:ext cx="952109" cy="62621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B15FACC-3594-AE1C-B958-D639346B3AD2}"/>
              </a:ext>
            </a:extLst>
          </p:cNvPr>
          <p:cNvCxnSpPr>
            <a:cxnSpLocks/>
          </p:cNvCxnSpPr>
          <p:nvPr/>
        </p:nvCxnSpPr>
        <p:spPr>
          <a:xfrm flipH="1" flipV="1">
            <a:off x="9918441" y="3676261"/>
            <a:ext cx="261645" cy="109371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0149427-93BF-DCCF-265B-D4916A2F39CA}"/>
              </a:ext>
            </a:extLst>
          </p:cNvPr>
          <p:cNvCxnSpPr>
            <a:cxnSpLocks/>
          </p:cNvCxnSpPr>
          <p:nvPr/>
        </p:nvCxnSpPr>
        <p:spPr>
          <a:xfrm flipH="1" flipV="1">
            <a:off x="9503229" y="3867340"/>
            <a:ext cx="686576" cy="902634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Left Brace 26">
            <a:extLst>
              <a:ext uri="{FF2B5EF4-FFF2-40B4-BE49-F238E27FC236}">
                <a16:creationId xmlns:a16="http://schemas.microsoft.com/office/drawing/2014/main" id="{287E45E4-4E5C-23EF-FB9B-A61953B29731}"/>
              </a:ext>
            </a:extLst>
          </p:cNvPr>
          <p:cNvSpPr/>
          <p:nvPr/>
        </p:nvSpPr>
        <p:spPr>
          <a:xfrm rot="5400000">
            <a:off x="6298448" y="1563784"/>
            <a:ext cx="335353" cy="111965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1012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8D2D9-BED6-A781-34A8-ADC496703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$</a:t>
            </a:r>
            <a:r>
              <a:rPr lang="en-GB" b="1" dirty="0" err="1"/>
              <a:t>centerShpere</a:t>
            </a:r>
            <a:r>
              <a:rPr lang="en-GB" b="1" dirty="0"/>
              <a:t> </a:t>
            </a:r>
            <a:r>
              <a:rPr lang="en-GB" dirty="0"/>
              <a:t>= circle on a sphere</a:t>
            </a:r>
          </a:p>
        </p:txBody>
      </p:sp>
      <p:pic>
        <p:nvPicPr>
          <p:cNvPr id="4" name="Picture 2" descr="Photograph of Earth taken by the Apollo 17 mission. The Arabian peninsula, Africa and Madagascar lie in the upper half of the disc, whereas Antarctica is at the bottom.">
            <a:extLst>
              <a:ext uri="{FF2B5EF4-FFF2-40B4-BE49-F238E27FC236}">
                <a16:creationId xmlns:a16="http://schemas.microsoft.com/office/drawing/2014/main" id="{13AEA6FA-83EC-8F1D-7D14-9B2696392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610" y="1487393"/>
            <a:ext cx="5005482" cy="5005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F995CE6-9EF3-D738-059C-CC64083CFC84}"/>
              </a:ext>
            </a:extLst>
          </p:cNvPr>
          <p:cNvCxnSpPr>
            <a:cxnSpLocks/>
          </p:cNvCxnSpPr>
          <p:nvPr/>
        </p:nvCxnSpPr>
        <p:spPr>
          <a:xfrm flipH="1" flipV="1">
            <a:off x="3346194" y="2819154"/>
            <a:ext cx="1879336" cy="123605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580A4E-9999-B74D-0878-DD40F2B6361A}"/>
              </a:ext>
            </a:extLst>
          </p:cNvPr>
          <p:cNvCxnSpPr>
            <a:cxnSpLocks/>
          </p:cNvCxnSpPr>
          <p:nvPr/>
        </p:nvCxnSpPr>
        <p:spPr>
          <a:xfrm flipH="1" flipV="1">
            <a:off x="4704075" y="1875453"/>
            <a:ext cx="521456" cy="2179757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4FEA83C-FB8F-3EA7-BB3C-B8A5AAB287AB}"/>
              </a:ext>
            </a:extLst>
          </p:cNvPr>
          <p:cNvCxnSpPr>
            <a:cxnSpLocks/>
          </p:cNvCxnSpPr>
          <p:nvPr/>
        </p:nvCxnSpPr>
        <p:spPr>
          <a:xfrm flipH="1" flipV="1">
            <a:off x="3900196" y="2220686"/>
            <a:ext cx="1335054" cy="1834525"/>
          </a:xfrm>
          <a:prstGeom prst="line">
            <a:avLst/>
          </a:prstGeom>
          <a:ln w="762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97D9491-C707-748C-4BEA-49A219DEF409}"/>
              </a:ext>
            </a:extLst>
          </p:cNvPr>
          <p:cNvSpPr/>
          <p:nvPr/>
        </p:nvSpPr>
        <p:spPr>
          <a:xfrm>
            <a:off x="3359020" y="1856790"/>
            <a:ext cx="1345053" cy="942393"/>
          </a:xfrm>
          <a:custGeom>
            <a:avLst/>
            <a:gdLst>
              <a:gd name="connsiteX0" fmla="*/ 0 w 1352939"/>
              <a:gd name="connsiteY0" fmla="*/ 933061 h 933061"/>
              <a:gd name="connsiteX1" fmla="*/ 541176 w 1352939"/>
              <a:gd name="connsiteY1" fmla="*/ 373224 h 933061"/>
              <a:gd name="connsiteX2" fmla="*/ 1352939 w 1352939"/>
              <a:gd name="connsiteY2" fmla="*/ 0 h 93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52939" h="933061">
                <a:moveTo>
                  <a:pt x="0" y="933061"/>
                </a:moveTo>
                <a:cubicBezTo>
                  <a:pt x="157843" y="730897"/>
                  <a:pt x="315686" y="528734"/>
                  <a:pt x="541176" y="373224"/>
                </a:cubicBezTo>
                <a:cubicBezTo>
                  <a:pt x="766666" y="217714"/>
                  <a:pt x="1222311" y="57539"/>
                  <a:pt x="1352939" y="0"/>
                </a:cubicBezTo>
              </a:path>
            </a:pathLst>
          </a:custGeom>
          <a:ln w="76200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6522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CC82F-3738-AE53-652B-935CB162F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Filtering places by Distance within a circle by using </a:t>
            </a:r>
            <a:r>
              <a:rPr lang="en-GB" b="1" dirty="0"/>
              <a:t>$</a:t>
            </a:r>
            <a:r>
              <a:rPr lang="en-GB" b="1" dirty="0" err="1"/>
              <a:t>geoWithin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FD0B9-9A3E-D7EA-0373-73BD4EDE0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Usage: we may not need places to be sorted, but only found places within certain Radius (circle query). </a:t>
            </a:r>
          </a:p>
          <a:p>
            <a:r>
              <a:rPr lang="en-GB" dirty="0"/>
              <a:t>Benefit: Faster query compared to </a:t>
            </a:r>
            <a:r>
              <a:rPr lang="en-GB" b="1" dirty="0"/>
              <a:t>$near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BF8C70-B512-54F3-B03C-C10D2DA4D00A}"/>
              </a:ext>
            </a:extLst>
          </p:cNvPr>
          <p:cNvSpPr txBox="1"/>
          <p:nvPr/>
        </p:nvSpPr>
        <p:spPr>
          <a:xfrm>
            <a:off x="4439035" y="4752439"/>
            <a:ext cx="765965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</a:rPr>
              <a:t>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"geometry"</a:t>
            </a:r>
            <a:r>
              <a:rPr lang="en-GB" sz="1600" dirty="0">
                <a:latin typeface="Consolas" panose="020B0609020204030204" pitchFamily="49" charset="0"/>
              </a:rPr>
              <a:t>: 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"$</a:t>
            </a:r>
            <a:r>
              <a:rPr lang="en-GB" sz="1600" dirty="0" err="1">
                <a:solidFill>
                  <a:schemeClr val="accent2"/>
                </a:solidFill>
                <a:latin typeface="Consolas" panose="020B0609020204030204" pitchFamily="49" charset="0"/>
              </a:rPr>
              <a:t>geoWithin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"</a:t>
            </a:r>
            <a:r>
              <a:rPr lang="en-GB" sz="1600" dirty="0">
                <a:latin typeface="Consolas" panose="020B0609020204030204" pitchFamily="49" charset="0"/>
              </a:rPr>
              <a:t>: 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"$</a:t>
            </a:r>
            <a:r>
              <a:rPr lang="en-GB" sz="1600" dirty="0" err="1">
                <a:solidFill>
                  <a:schemeClr val="accent2"/>
                </a:solidFill>
                <a:latin typeface="Consolas" panose="020B0609020204030204" pitchFamily="49" charset="0"/>
              </a:rPr>
              <a:t>centerSphere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"</a:t>
            </a:r>
            <a:r>
              <a:rPr lang="en-GB" sz="1600" dirty="0">
                <a:latin typeface="Consolas" panose="020B0609020204030204" pitchFamily="49" charset="0"/>
              </a:rPr>
              <a:t>: [ </a:t>
            </a:r>
            <a:r>
              <a:rPr lang="en-GB" sz="1600" dirty="0">
                <a:solidFill>
                  <a:schemeClr val="accent5"/>
                </a:solidFill>
                <a:latin typeface="Consolas" panose="020B0609020204030204" pitchFamily="49" charset="0"/>
              </a:rPr>
              <a:t>[23.3199, 42.6983]</a:t>
            </a:r>
            <a:r>
              <a:rPr lang="en-GB" sz="1600" dirty="0">
                <a:latin typeface="Consolas" panose="020B0609020204030204" pitchFamily="49" charset="0"/>
              </a:rPr>
              <a:t>,  </a:t>
            </a:r>
            <a:r>
              <a:rPr lang="en-GB" sz="1600" dirty="0">
                <a:solidFill>
                  <a:schemeClr val="accent5"/>
                </a:solidFill>
                <a:latin typeface="Consolas" panose="020B0609020204030204" pitchFamily="49" charset="0"/>
              </a:rPr>
              <a:t>2/6378.1</a:t>
            </a:r>
            <a:r>
              <a:rPr lang="en-GB" sz="1600" dirty="0">
                <a:latin typeface="Consolas" panose="020B0609020204030204" pitchFamily="49" charset="0"/>
              </a:rPr>
              <a:t> ]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}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}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BE165E-EC37-EE7A-1D46-0BC81F0FA1F2}"/>
              </a:ext>
            </a:extLst>
          </p:cNvPr>
          <p:cNvSpPr txBox="1"/>
          <p:nvPr/>
        </p:nvSpPr>
        <p:spPr>
          <a:xfrm>
            <a:off x="1027146" y="3429000"/>
            <a:ext cx="609755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</a:rPr>
              <a:t>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&lt;location field&gt;: 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$</a:t>
            </a:r>
            <a:r>
              <a:rPr lang="en-GB" sz="1600" dirty="0" err="1">
                <a:latin typeface="Consolas" panose="020B0609020204030204" pitchFamily="49" charset="0"/>
              </a:rPr>
              <a:t>geoWithin</a:t>
            </a:r>
            <a:r>
              <a:rPr lang="en-GB" sz="1600" dirty="0">
                <a:latin typeface="Consolas" panose="020B0609020204030204" pitchFamily="49" charset="0"/>
              </a:rPr>
              <a:t>: { &lt;shape operator&gt;: &lt;coordinates&gt; }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}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10CC62-20DB-5D75-8397-491E4711B5D3}"/>
              </a:ext>
            </a:extLst>
          </p:cNvPr>
          <p:cNvCxnSpPr/>
          <p:nvPr/>
        </p:nvCxnSpPr>
        <p:spPr>
          <a:xfrm flipH="1">
            <a:off x="2724534" y="5660380"/>
            <a:ext cx="22953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00B9D67-922E-9E0A-F519-4CE0C1E271E1}"/>
              </a:ext>
            </a:extLst>
          </p:cNvPr>
          <p:cNvSpPr txBox="1"/>
          <p:nvPr/>
        </p:nvSpPr>
        <p:spPr>
          <a:xfrm>
            <a:off x="738668" y="5475714"/>
            <a:ext cx="229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Shape operator</a:t>
            </a:r>
          </a:p>
        </p:txBody>
      </p:sp>
    </p:spTree>
    <p:extLst>
      <p:ext uri="{BB962C8B-B14F-4D97-AF65-F5344CB8AC3E}">
        <p14:creationId xmlns:p14="http://schemas.microsoft.com/office/powerpoint/2010/main" val="3893780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78066-EE6B-0AD2-11BE-8AC4BC7D7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Filtering places within a irregular shape (Polygon) by using </a:t>
            </a:r>
            <a:r>
              <a:rPr lang="en-GB" b="1" dirty="0"/>
              <a:t>$</a:t>
            </a:r>
            <a:r>
              <a:rPr lang="en-GB" b="1" dirty="0" err="1"/>
              <a:t>geoWithin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D944E8-9FCC-1420-B7A5-7B2D63D53F4A}"/>
              </a:ext>
            </a:extLst>
          </p:cNvPr>
          <p:cNvSpPr txBox="1"/>
          <p:nvPr/>
        </p:nvSpPr>
        <p:spPr>
          <a:xfrm>
            <a:off x="604935" y="2762950"/>
            <a:ext cx="60975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</a:rPr>
              <a:t>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&lt;location field&gt;: 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$</a:t>
            </a:r>
            <a:r>
              <a:rPr lang="en-GB" sz="1600" dirty="0" err="1">
                <a:latin typeface="Consolas" panose="020B0609020204030204" pitchFamily="49" charset="0"/>
              </a:rPr>
              <a:t>geoWithin</a:t>
            </a:r>
            <a:r>
              <a:rPr lang="en-GB" sz="1600" dirty="0">
                <a:latin typeface="Consolas" panose="020B0609020204030204" pitchFamily="49" charset="0"/>
              </a:rPr>
              <a:t>: 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 $geometry: 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    type: &lt;"Polygon" or "</a:t>
            </a:r>
            <a:r>
              <a:rPr lang="en-GB" sz="1600" dirty="0" err="1">
                <a:latin typeface="Consolas" panose="020B0609020204030204" pitchFamily="49" charset="0"/>
              </a:rPr>
              <a:t>MultiPolygon</a:t>
            </a:r>
            <a:r>
              <a:rPr lang="en-GB" sz="1600" dirty="0">
                <a:latin typeface="Consolas" panose="020B0609020204030204" pitchFamily="49" charset="0"/>
              </a:rPr>
              <a:t>"&gt; ,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    coordinates: [ &lt;coordinates&gt; ]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 }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}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}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B27548-D6ED-2F06-EADE-FBE47497AADB}"/>
              </a:ext>
            </a:extLst>
          </p:cNvPr>
          <p:cNvSpPr txBox="1"/>
          <p:nvPr/>
        </p:nvSpPr>
        <p:spPr>
          <a:xfrm>
            <a:off x="6215743" y="2762949"/>
            <a:ext cx="609755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</a:rPr>
              <a:t>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“geometry”</a:t>
            </a:r>
            <a:r>
              <a:rPr lang="en-GB" sz="1600" dirty="0">
                <a:latin typeface="Consolas" panose="020B0609020204030204" pitchFamily="49" charset="0"/>
              </a:rPr>
              <a:t>: {</a:t>
            </a:r>
          </a:p>
          <a:p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      $</a:t>
            </a:r>
            <a:r>
              <a:rPr lang="en-GB" sz="1600" dirty="0" err="1">
                <a:solidFill>
                  <a:schemeClr val="accent2"/>
                </a:solidFill>
                <a:latin typeface="Consolas" panose="020B0609020204030204" pitchFamily="49" charset="0"/>
              </a:rPr>
              <a:t>geoWithin</a:t>
            </a:r>
            <a:r>
              <a:rPr lang="en-GB" sz="1600" dirty="0">
                <a:latin typeface="Consolas" panose="020B0609020204030204" pitchFamily="49" charset="0"/>
              </a:rPr>
              <a:t>: 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$geometry</a:t>
            </a:r>
            <a:r>
              <a:rPr lang="en-GB" sz="1600" dirty="0">
                <a:latin typeface="Consolas" panose="020B0609020204030204" pitchFamily="49" charset="0"/>
              </a:rPr>
              <a:t>: 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GB" sz="1600" dirty="0">
                <a:latin typeface="Consolas" panose="020B0609020204030204" pitchFamily="49" charset="0"/>
              </a:rPr>
              <a:t>: </a:t>
            </a:r>
            <a:r>
              <a:rPr lang="en-GB" sz="1600" dirty="0">
                <a:solidFill>
                  <a:schemeClr val="accent6"/>
                </a:solidFill>
                <a:latin typeface="Consolas" panose="020B0609020204030204" pitchFamily="49" charset="0"/>
              </a:rPr>
              <a:t>"Polygon"</a:t>
            </a:r>
            <a:r>
              <a:rPr lang="en-GB" sz="1600" dirty="0">
                <a:latin typeface="Consolas" panose="020B0609020204030204" pitchFamily="49" charset="0"/>
              </a:rPr>
              <a:t>,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coordinates</a:t>
            </a:r>
            <a:r>
              <a:rPr lang="en-GB" sz="1600" dirty="0">
                <a:latin typeface="Consolas" panose="020B0609020204030204" pitchFamily="49" charset="0"/>
              </a:rPr>
              <a:t>: [[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		</a:t>
            </a:r>
            <a:r>
              <a:rPr lang="en-GB" sz="1600" dirty="0">
                <a:solidFill>
                  <a:schemeClr val="accent5"/>
                </a:solidFill>
                <a:latin typeface="Consolas" panose="020B0609020204030204" pitchFamily="49" charset="0"/>
              </a:rPr>
              <a:t>[23.3180, 42.6960],</a:t>
            </a:r>
          </a:p>
          <a:p>
            <a:r>
              <a:rPr lang="en-GB" sz="1600" dirty="0">
                <a:solidFill>
                  <a:schemeClr val="accent5"/>
                </a:solidFill>
                <a:latin typeface="Consolas" panose="020B0609020204030204" pitchFamily="49" charset="0"/>
              </a:rPr>
              <a:t>		[23.3240, 42.6960],</a:t>
            </a:r>
          </a:p>
          <a:p>
            <a:r>
              <a:rPr lang="en-GB" sz="1600" dirty="0">
                <a:solidFill>
                  <a:schemeClr val="accent5"/>
                </a:solidFill>
                <a:latin typeface="Consolas" panose="020B0609020204030204" pitchFamily="49" charset="0"/>
              </a:rPr>
              <a:t>		[23.3240, 42.7020],</a:t>
            </a:r>
          </a:p>
          <a:p>
            <a:r>
              <a:rPr lang="en-GB" sz="1600" dirty="0">
                <a:solidFill>
                  <a:schemeClr val="accent5"/>
                </a:solidFill>
                <a:latin typeface="Consolas" panose="020B0609020204030204" pitchFamily="49" charset="0"/>
              </a:rPr>
              <a:t>		[23.3180, 42.7020],</a:t>
            </a:r>
          </a:p>
          <a:p>
            <a:r>
              <a:rPr lang="en-GB" sz="1600" dirty="0">
                <a:solidFill>
                  <a:schemeClr val="accent5"/>
                </a:solidFill>
                <a:latin typeface="Consolas" panose="020B0609020204030204" pitchFamily="49" charset="0"/>
              </a:rPr>
              <a:t>		[23.3180, 42.6960]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	]]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 }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}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}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35558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78066-EE6B-0AD2-11BE-8AC4BC7D7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 places which Intersect with other Places </a:t>
            </a:r>
            <a:r>
              <a:rPr lang="en-GB" b="1" dirty="0"/>
              <a:t>($</a:t>
            </a:r>
            <a:r>
              <a:rPr lang="en-GB" b="1" dirty="0" err="1"/>
              <a:t>geoIntersects</a:t>
            </a:r>
            <a:r>
              <a:rPr lang="en-GB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D944E8-9FCC-1420-B7A5-7B2D63D53F4A}"/>
              </a:ext>
            </a:extLst>
          </p:cNvPr>
          <p:cNvSpPr txBox="1"/>
          <p:nvPr/>
        </p:nvSpPr>
        <p:spPr>
          <a:xfrm>
            <a:off x="604935" y="2762950"/>
            <a:ext cx="60975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</a:rPr>
              <a:t>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&lt;location field&gt;: 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$</a:t>
            </a:r>
            <a:r>
              <a:rPr lang="en-GB" sz="1600" dirty="0" err="1">
                <a:latin typeface="Consolas" panose="020B0609020204030204" pitchFamily="49" charset="0"/>
              </a:rPr>
              <a:t>geoIntersects</a:t>
            </a:r>
            <a:r>
              <a:rPr lang="en-GB" sz="1600" dirty="0">
                <a:latin typeface="Consolas" panose="020B0609020204030204" pitchFamily="49" charset="0"/>
              </a:rPr>
              <a:t>: 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$geometry: 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   type: "&lt;</a:t>
            </a:r>
            <a:r>
              <a:rPr lang="en-GB" sz="1600" dirty="0" err="1">
                <a:latin typeface="Consolas" panose="020B0609020204030204" pitchFamily="49" charset="0"/>
              </a:rPr>
              <a:t>GeoJSON</a:t>
            </a:r>
            <a:r>
              <a:rPr lang="en-GB" sz="1600" dirty="0">
                <a:latin typeface="Consolas" panose="020B0609020204030204" pitchFamily="49" charset="0"/>
              </a:rPr>
              <a:t> object type&gt;" ,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   coordinates: [ &lt;coordinates&gt; ]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}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}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}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B27548-D6ED-2F06-EADE-FBE47497AADB}"/>
              </a:ext>
            </a:extLst>
          </p:cNvPr>
          <p:cNvSpPr txBox="1"/>
          <p:nvPr/>
        </p:nvSpPr>
        <p:spPr>
          <a:xfrm>
            <a:off x="6215743" y="2762949"/>
            <a:ext cx="609755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</a:rPr>
              <a:t>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“geometry”</a:t>
            </a:r>
            <a:r>
              <a:rPr lang="en-GB" sz="1600" dirty="0">
                <a:latin typeface="Consolas" panose="020B0609020204030204" pitchFamily="49" charset="0"/>
              </a:rPr>
              <a:t>: {</a:t>
            </a:r>
          </a:p>
          <a:p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      $</a:t>
            </a:r>
            <a:r>
              <a:rPr lang="en-GB" sz="1600" dirty="0" err="1">
                <a:solidFill>
                  <a:schemeClr val="accent2"/>
                </a:solidFill>
                <a:latin typeface="Consolas" panose="020B0609020204030204" pitchFamily="49" charset="0"/>
              </a:rPr>
              <a:t>geoIntersect</a:t>
            </a:r>
            <a:r>
              <a:rPr lang="en-GB" sz="1600" dirty="0">
                <a:latin typeface="Consolas" panose="020B0609020204030204" pitchFamily="49" charset="0"/>
              </a:rPr>
              <a:t>: 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$geometry</a:t>
            </a:r>
            <a:r>
              <a:rPr lang="en-GB" sz="1600" dirty="0">
                <a:latin typeface="Consolas" panose="020B0609020204030204" pitchFamily="49" charset="0"/>
              </a:rPr>
              <a:t>: {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en-GB" sz="1600" dirty="0">
                <a:latin typeface="Consolas" panose="020B0609020204030204" pitchFamily="49" charset="0"/>
              </a:rPr>
              <a:t>: </a:t>
            </a:r>
            <a:r>
              <a:rPr lang="en-GB" sz="1600" dirty="0">
                <a:solidFill>
                  <a:schemeClr val="accent6"/>
                </a:solidFill>
                <a:latin typeface="Consolas" panose="020B0609020204030204" pitchFamily="49" charset="0"/>
              </a:rPr>
              <a:t>"Polygon"</a:t>
            </a:r>
            <a:r>
              <a:rPr lang="en-GB" sz="1600" dirty="0">
                <a:latin typeface="Consolas" panose="020B0609020204030204" pitchFamily="49" charset="0"/>
              </a:rPr>
              <a:t>,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   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</a:rPr>
              <a:t>coordinates</a:t>
            </a:r>
            <a:r>
              <a:rPr lang="en-GB" sz="1600" dirty="0">
                <a:latin typeface="Consolas" panose="020B0609020204030204" pitchFamily="49" charset="0"/>
              </a:rPr>
              <a:t>: [[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		</a:t>
            </a:r>
            <a:r>
              <a:rPr lang="en-GB" sz="1600" dirty="0">
                <a:solidFill>
                  <a:schemeClr val="accent5"/>
                </a:solidFill>
                <a:latin typeface="Consolas" panose="020B0609020204030204" pitchFamily="49" charset="0"/>
              </a:rPr>
              <a:t>[23.3180, 42.6960],</a:t>
            </a:r>
          </a:p>
          <a:p>
            <a:r>
              <a:rPr lang="en-GB" sz="1600" dirty="0">
                <a:solidFill>
                  <a:schemeClr val="accent5"/>
                </a:solidFill>
                <a:latin typeface="Consolas" panose="020B0609020204030204" pitchFamily="49" charset="0"/>
              </a:rPr>
              <a:t>		[23.3240, 42.6960],</a:t>
            </a:r>
          </a:p>
          <a:p>
            <a:r>
              <a:rPr lang="en-GB" sz="1600" dirty="0">
                <a:solidFill>
                  <a:schemeClr val="accent5"/>
                </a:solidFill>
                <a:latin typeface="Consolas" panose="020B0609020204030204" pitchFamily="49" charset="0"/>
              </a:rPr>
              <a:t>		[23.3240, 42.7020],</a:t>
            </a:r>
          </a:p>
          <a:p>
            <a:r>
              <a:rPr lang="en-GB" sz="1600" dirty="0">
                <a:solidFill>
                  <a:schemeClr val="accent5"/>
                </a:solidFill>
                <a:latin typeface="Consolas" panose="020B0609020204030204" pitchFamily="49" charset="0"/>
              </a:rPr>
              <a:t>		[23.3180, 42.7020],</a:t>
            </a:r>
          </a:p>
          <a:p>
            <a:r>
              <a:rPr lang="en-GB" sz="1600" dirty="0">
                <a:solidFill>
                  <a:schemeClr val="accent5"/>
                </a:solidFill>
                <a:latin typeface="Consolas" panose="020B0609020204030204" pitchFamily="49" charset="0"/>
              </a:rPr>
              <a:t>		[23.3180, 42.6960]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	]]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   }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   }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   }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40B802-B5FD-FDF3-A8E1-2A2FF9ECB3CB}"/>
              </a:ext>
            </a:extLst>
          </p:cNvPr>
          <p:cNvSpPr txBox="1"/>
          <p:nvPr/>
        </p:nvSpPr>
        <p:spPr>
          <a:xfrm>
            <a:off x="838199" y="1922106"/>
            <a:ext cx="8483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Usage: to find Places, whose Shapes/Locations overlap partially or fully</a:t>
            </a:r>
          </a:p>
        </p:txBody>
      </p:sp>
    </p:spTree>
    <p:extLst>
      <p:ext uri="{BB962C8B-B14F-4D97-AF65-F5344CB8AC3E}">
        <p14:creationId xmlns:p14="http://schemas.microsoft.com/office/powerpoint/2010/main" val="1971099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42C7A-99EC-F7DA-28EF-9B0C43C77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$</a:t>
            </a:r>
            <a:r>
              <a:rPr lang="en-GB" b="1" dirty="0" err="1"/>
              <a:t>geoIntersects</a:t>
            </a:r>
            <a:r>
              <a:rPr lang="en-GB" b="1" dirty="0"/>
              <a:t> vs $</a:t>
            </a:r>
            <a:r>
              <a:rPr lang="en-GB" b="1" dirty="0" err="1"/>
              <a:t>geoWithin</a:t>
            </a:r>
            <a:endParaRPr lang="en-GB" b="1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D9F87DA-E483-68FE-55EF-8ECF7FBD9D16}"/>
              </a:ext>
            </a:extLst>
          </p:cNvPr>
          <p:cNvSpPr/>
          <p:nvPr/>
        </p:nvSpPr>
        <p:spPr>
          <a:xfrm>
            <a:off x="933061" y="2062065"/>
            <a:ext cx="9685176" cy="3834882"/>
          </a:xfrm>
          <a:custGeom>
            <a:avLst/>
            <a:gdLst>
              <a:gd name="connsiteX0" fmla="*/ 0 w 9685176"/>
              <a:gd name="connsiteY0" fmla="*/ 1007706 h 3834882"/>
              <a:gd name="connsiteX1" fmla="*/ 5458408 w 9685176"/>
              <a:gd name="connsiteY1" fmla="*/ 0 h 3834882"/>
              <a:gd name="connsiteX2" fmla="*/ 9685176 w 9685176"/>
              <a:gd name="connsiteY2" fmla="*/ 1511559 h 3834882"/>
              <a:gd name="connsiteX3" fmla="*/ 6830008 w 9685176"/>
              <a:gd name="connsiteY3" fmla="*/ 3834882 h 3834882"/>
              <a:gd name="connsiteX4" fmla="*/ 3620278 w 9685176"/>
              <a:gd name="connsiteY4" fmla="*/ 3023119 h 3834882"/>
              <a:gd name="connsiteX5" fmla="*/ 2024743 w 9685176"/>
              <a:gd name="connsiteY5" fmla="*/ 3834882 h 3834882"/>
              <a:gd name="connsiteX6" fmla="*/ 0 w 9685176"/>
              <a:gd name="connsiteY6" fmla="*/ 1007706 h 3834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685176" h="3834882">
                <a:moveTo>
                  <a:pt x="0" y="1007706"/>
                </a:moveTo>
                <a:lnTo>
                  <a:pt x="5458408" y="0"/>
                </a:lnTo>
                <a:lnTo>
                  <a:pt x="9685176" y="1511559"/>
                </a:lnTo>
                <a:lnTo>
                  <a:pt x="6830008" y="3834882"/>
                </a:lnTo>
                <a:lnTo>
                  <a:pt x="3620278" y="3023119"/>
                </a:lnTo>
                <a:lnTo>
                  <a:pt x="2024743" y="3834882"/>
                </a:lnTo>
                <a:lnTo>
                  <a:pt x="0" y="1007706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E8E905A-15EE-F487-2781-72C9426A94F0}"/>
              </a:ext>
            </a:extLst>
          </p:cNvPr>
          <p:cNvSpPr/>
          <p:nvPr/>
        </p:nvSpPr>
        <p:spPr>
          <a:xfrm>
            <a:off x="1785258" y="3237721"/>
            <a:ext cx="886408" cy="709127"/>
          </a:xfrm>
          <a:custGeom>
            <a:avLst/>
            <a:gdLst>
              <a:gd name="connsiteX0" fmla="*/ 0 w 886408"/>
              <a:gd name="connsiteY0" fmla="*/ 214604 h 709127"/>
              <a:gd name="connsiteX1" fmla="*/ 774441 w 886408"/>
              <a:gd name="connsiteY1" fmla="*/ 0 h 709127"/>
              <a:gd name="connsiteX2" fmla="*/ 886408 w 886408"/>
              <a:gd name="connsiteY2" fmla="*/ 569167 h 709127"/>
              <a:gd name="connsiteX3" fmla="*/ 186612 w 886408"/>
              <a:gd name="connsiteY3" fmla="*/ 709127 h 709127"/>
              <a:gd name="connsiteX4" fmla="*/ 0 w 886408"/>
              <a:gd name="connsiteY4" fmla="*/ 214604 h 70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6408" h="709127">
                <a:moveTo>
                  <a:pt x="0" y="214604"/>
                </a:moveTo>
                <a:lnTo>
                  <a:pt x="774441" y="0"/>
                </a:lnTo>
                <a:lnTo>
                  <a:pt x="886408" y="569167"/>
                </a:lnTo>
                <a:lnTo>
                  <a:pt x="186612" y="709127"/>
                </a:lnTo>
                <a:lnTo>
                  <a:pt x="0" y="214604"/>
                </a:lnTo>
                <a:close/>
              </a:path>
            </a:pathLst>
          </a:cu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A8670EA-ADF2-F119-773F-84FFFCA28EC3}"/>
              </a:ext>
            </a:extLst>
          </p:cNvPr>
          <p:cNvSpPr/>
          <p:nvPr/>
        </p:nvSpPr>
        <p:spPr>
          <a:xfrm>
            <a:off x="3334140" y="2123005"/>
            <a:ext cx="976604" cy="636037"/>
          </a:xfrm>
          <a:custGeom>
            <a:avLst/>
            <a:gdLst>
              <a:gd name="connsiteX0" fmla="*/ 0 w 886408"/>
              <a:gd name="connsiteY0" fmla="*/ 214604 h 709127"/>
              <a:gd name="connsiteX1" fmla="*/ 774441 w 886408"/>
              <a:gd name="connsiteY1" fmla="*/ 0 h 709127"/>
              <a:gd name="connsiteX2" fmla="*/ 886408 w 886408"/>
              <a:gd name="connsiteY2" fmla="*/ 569167 h 709127"/>
              <a:gd name="connsiteX3" fmla="*/ 186612 w 886408"/>
              <a:gd name="connsiteY3" fmla="*/ 709127 h 709127"/>
              <a:gd name="connsiteX4" fmla="*/ 0 w 886408"/>
              <a:gd name="connsiteY4" fmla="*/ 214604 h 70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6408" h="709127">
                <a:moveTo>
                  <a:pt x="0" y="214604"/>
                </a:moveTo>
                <a:lnTo>
                  <a:pt x="774441" y="0"/>
                </a:lnTo>
                <a:lnTo>
                  <a:pt x="886408" y="569167"/>
                </a:lnTo>
                <a:lnTo>
                  <a:pt x="186612" y="709127"/>
                </a:lnTo>
                <a:lnTo>
                  <a:pt x="0" y="214604"/>
                </a:lnTo>
                <a:close/>
              </a:path>
            </a:pathLst>
          </a:cu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70C24DAA-70C6-E225-08F1-5C219FD13660}"/>
              </a:ext>
            </a:extLst>
          </p:cNvPr>
          <p:cNvSpPr/>
          <p:nvPr/>
        </p:nvSpPr>
        <p:spPr>
          <a:xfrm>
            <a:off x="4553339" y="3097763"/>
            <a:ext cx="167951" cy="167951"/>
          </a:xfrm>
          <a:prstGeom prst="flowChartConnec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9BE2252B-71C0-B659-9DD0-F905FC1D1462}"/>
              </a:ext>
            </a:extLst>
          </p:cNvPr>
          <p:cNvSpPr/>
          <p:nvPr/>
        </p:nvSpPr>
        <p:spPr>
          <a:xfrm>
            <a:off x="4313854" y="3592287"/>
            <a:ext cx="167951" cy="167951"/>
          </a:xfrm>
          <a:prstGeom prst="flowChartConnec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A4CDAB9E-68CF-BDC8-C6E7-44C88A44FA49}"/>
              </a:ext>
            </a:extLst>
          </p:cNvPr>
          <p:cNvSpPr/>
          <p:nvPr/>
        </p:nvSpPr>
        <p:spPr>
          <a:xfrm>
            <a:off x="4817707" y="2278226"/>
            <a:ext cx="167951" cy="167951"/>
          </a:xfrm>
          <a:prstGeom prst="flowChartConnec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901BB171-AEBE-CD54-B9F6-9B4F51121ED7}"/>
              </a:ext>
            </a:extLst>
          </p:cNvPr>
          <p:cNvSpPr/>
          <p:nvPr/>
        </p:nvSpPr>
        <p:spPr>
          <a:xfrm>
            <a:off x="5078963" y="3895530"/>
            <a:ext cx="167951" cy="167951"/>
          </a:xfrm>
          <a:prstGeom prst="flowChartConnec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F1449619-B4D7-DD52-6F74-DF099887D04F}"/>
              </a:ext>
            </a:extLst>
          </p:cNvPr>
          <p:cNvSpPr/>
          <p:nvPr/>
        </p:nvSpPr>
        <p:spPr>
          <a:xfrm>
            <a:off x="5903168" y="4687077"/>
            <a:ext cx="167951" cy="167951"/>
          </a:xfrm>
          <a:prstGeom prst="flowChartConnec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7604F0B0-3B02-AD9F-176C-F640B00349E9}"/>
              </a:ext>
            </a:extLst>
          </p:cNvPr>
          <p:cNvSpPr/>
          <p:nvPr/>
        </p:nvSpPr>
        <p:spPr>
          <a:xfrm>
            <a:off x="4105469" y="5812971"/>
            <a:ext cx="167951" cy="167951"/>
          </a:xfrm>
          <a:prstGeom prst="flowChartConnec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E943803A-231F-46C4-B06B-CCC904FC69A6}"/>
              </a:ext>
            </a:extLst>
          </p:cNvPr>
          <p:cNvSpPr/>
          <p:nvPr/>
        </p:nvSpPr>
        <p:spPr>
          <a:xfrm>
            <a:off x="4733731" y="5645020"/>
            <a:ext cx="167951" cy="167951"/>
          </a:xfrm>
          <a:prstGeom prst="flowChartConnec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61A3205D-8F61-DBB5-21B0-22E491C63476}"/>
              </a:ext>
            </a:extLst>
          </p:cNvPr>
          <p:cNvSpPr/>
          <p:nvPr/>
        </p:nvSpPr>
        <p:spPr>
          <a:xfrm>
            <a:off x="5607698" y="5645019"/>
            <a:ext cx="167951" cy="167951"/>
          </a:xfrm>
          <a:prstGeom prst="flowChartConnec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E6CF6645-5F4F-1C16-AF04-D205E0AF4ED0}"/>
              </a:ext>
            </a:extLst>
          </p:cNvPr>
          <p:cNvSpPr/>
          <p:nvPr/>
        </p:nvSpPr>
        <p:spPr>
          <a:xfrm>
            <a:off x="5554824" y="1606712"/>
            <a:ext cx="167951" cy="167951"/>
          </a:xfrm>
          <a:prstGeom prst="flowChartConnec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A286E71-E671-5B92-64BA-1D4736391E62}"/>
              </a:ext>
            </a:extLst>
          </p:cNvPr>
          <p:cNvSpPr/>
          <p:nvPr/>
        </p:nvSpPr>
        <p:spPr>
          <a:xfrm>
            <a:off x="6363478" y="2733869"/>
            <a:ext cx="3212841" cy="3219062"/>
          </a:xfrm>
          <a:custGeom>
            <a:avLst/>
            <a:gdLst>
              <a:gd name="connsiteX0" fmla="*/ 2575249 w 2575249"/>
              <a:gd name="connsiteY0" fmla="*/ 0 h 4273421"/>
              <a:gd name="connsiteX1" fmla="*/ 1866122 w 2575249"/>
              <a:gd name="connsiteY1" fmla="*/ 737119 h 4273421"/>
              <a:gd name="connsiteX2" fmla="*/ 2006081 w 2575249"/>
              <a:gd name="connsiteY2" fmla="*/ 1595535 h 4273421"/>
              <a:gd name="connsiteX3" fmla="*/ 1315616 w 2575249"/>
              <a:gd name="connsiteY3" fmla="*/ 1884784 h 4273421"/>
              <a:gd name="connsiteX4" fmla="*/ 886408 w 2575249"/>
              <a:gd name="connsiteY4" fmla="*/ 2369976 h 4273421"/>
              <a:gd name="connsiteX5" fmla="*/ 755779 w 2575249"/>
              <a:gd name="connsiteY5" fmla="*/ 2967135 h 4273421"/>
              <a:gd name="connsiteX6" fmla="*/ 0 w 2575249"/>
              <a:gd name="connsiteY6" fmla="*/ 4273421 h 427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75249" h="4273421">
                <a:moveTo>
                  <a:pt x="2575249" y="0"/>
                </a:moveTo>
                <a:lnTo>
                  <a:pt x="1866122" y="737119"/>
                </a:lnTo>
                <a:lnTo>
                  <a:pt x="2006081" y="1595535"/>
                </a:lnTo>
                <a:lnTo>
                  <a:pt x="1315616" y="1884784"/>
                </a:lnTo>
                <a:lnTo>
                  <a:pt x="886408" y="2369976"/>
                </a:lnTo>
                <a:lnTo>
                  <a:pt x="755779" y="2967135"/>
                </a:lnTo>
                <a:lnTo>
                  <a:pt x="0" y="4273421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7D1D314-B2C7-9365-EA4E-276B8C43BF06}"/>
              </a:ext>
            </a:extLst>
          </p:cNvPr>
          <p:cNvSpPr/>
          <p:nvPr/>
        </p:nvSpPr>
        <p:spPr>
          <a:xfrm>
            <a:off x="6848669" y="1690688"/>
            <a:ext cx="1654629" cy="540252"/>
          </a:xfrm>
          <a:custGeom>
            <a:avLst/>
            <a:gdLst>
              <a:gd name="connsiteX0" fmla="*/ 0 w 886408"/>
              <a:gd name="connsiteY0" fmla="*/ 214604 h 709127"/>
              <a:gd name="connsiteX1" fmla="*/ 774441 w 886408"/>
              <a:gd name="connsiteY1" fmla="*/ 0 h 709127"/>
              <a:gd name="connsiteX2" fmla="*/ 886408 w 886408"/>
              <a:gd name="connsiteY2" fmla="*/ 569167 h 709127"/>
              <a:gd name="connsiteX3" fmla="*/ 186612 w 886408"/>
              <a:gd name="connsiteY3" fmla="*/ 709127 h 709127"/>
              <a:gd name="connsiteX4" fmla="*/ 0 w 886408"/>
              <a:gd name="connsiteY4" fmla="*/ 214604 h 70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6408" h="709127">
                <a:moveTo>
                  <a:pt x="0" y="214604"/>
                </a:moveTo>
                <a:lnTo>
                  <a:pt x="774441" y="0"/>
                </a:lnTo>
                <a:lnTo>
                  <a:pt x="886408" y="569167"/>
                </a:lnTo>
                <a:lnTo>
                  <a:pt x="186612" y="709127"/>
                </a:lnTo>
                <a:lnTo>
                  <a:pt x="0" y="214604"/>
                </a:lnTo>
                <a:close/>
              </a:path>
            </a:pathLst>
          </a:cu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A25035C-D5B8-FAD4-B3C9-4D9ADF72B32D}"/>
              </a:ext>
            </a:extLst>
          </p:cNvPr>
          <p:cNvSpPr/>
          <p:nvPr/>
        </p:nvSpPr>
        <p:spPr>
          <a:xfrm>
            <a:off x="1119673" y="2043404"/>
            <a:ext cx="1492898" cy="662474"/>
          </a:xfrm>
          <a:custGeom>
            <a:avLst/>
            <a:gdLst>
              <a:gd name="connsiteX0" fmla="*/ 0 w 1492898"/>
              <a:gd name="connsiteY0" fmla="*/ 139959 h 662474"/>
              <a:gd name="connsiteX1" fmla="*/ 681135 w 1492898"/>
              <a:gd name="connsiteY1" fmla="*/ 83976 h 662474"/>
              <a:gd name="connsiteX2" fmla="*/ 970384 w 1492898"/>
              <a:gd name="connsiteY2" fmla="*/ 466531 h 662474"/>
              <a:gd name="connsiteX3" fmla="*/ 1063690 w 1492898"/>
              <a:gd name="connsiteY3" fmla="*/ 662474 h 662474"/>
              <a:gd name="connsiteX4" fmla="*/ 1492898 w 1492898"/>
              <a:gd name="connsiteY4" fmla="*/ 559837 h 662474"/>
              <a:gd name="connsiteX5" fmla="*/ 1250303 w 1492898"/>
              <a:gd name="connsiteY5" fmla="*/ 0 h 662474"/>
              <a:gd name="connsiteX6" fmla="*/ 634482 w 1492898"/>
              <a:gd name="connsiteY6" fmla="*/ 74645 h 662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2898" h="662474">
                <a:moveTo>
                  <a:pt x="0" y="139959"/>
                </a:moveTo>
                <a:lnTo>
                  <a:pt x="681135" y="83976"/>
                </a:lnTo>
                <a:lnTo>
                  <a:pt x="970384" y="466531"/>
                </a:lnTo>
                <a:lnTo>
                  <a:pt x="1063690" y="662474"/>
                </a:lnTo>
                <a:lnTo>
                  <a:pt x="1492898" y="559837"/>
                </a:lnTo>
                <a:lnTo>
                  <a:pt x="1250303" y="0"/>
                </a:lnTo>
                <a:lnTo>
                  <a:pt x="634482" y="74645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5078929-0070-CD1D-DDEE-457249851E0F}"/>
              </a:ext>
            </a:extLst>
          </p:cNvPr>
          <p:cNvSpPr/>
          <p:nvPr/>
        </p:nvSpPr>
        <p:spPr>
          <a:xfrm>
            <a:off x="1110343" y="3862873"/>
            <a:ext cx="1567543" cy="979715"/>
          </a:xfrm>
          <a:custGeom>
            <a:avLst/>
            <a:gdLst>
              <a:gd name="connsiteX0" fmla="*/ 0 w 1567543"/>
              <a:gd name="connsiteY0" fmla="*/ 979715 h 979715"/>
              <a:gd name="connsiteX1" fmla="*/ 1567543 w 1567543"/>
              <a:gd name="connsiteY1" fmla="*/ 401217 h 979715"/>
              <a:gd name="connsiteX2" fmla="*/ 1352939 w 1567543"/>
              <a:gd name="connsiteY2" fmla="*/ 0 h 979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67543" h="979715">
                <a:moveTo>
                  <a:pt x="0" y="979715"/>
                </a:moveTo>
                <a:lnTo>
                  <a:pt x="1567543" y="401217"/>
                </a:lnTo>
                <a:lnTo>
                  <a:pt x="1352939" y="0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6D5742CD-9248-4EA7-7D9E-5370D73AA1F1}"/>
              </a:ext>
            </a:extLst>
          </p:cNvPr>
          <p:cNvSpPr/>
          <p:nvPr/>
        </p:nvSpPr>
        <p:spPr>
          <a:xfrm>
            <a:off x="6854890" y="5237582"/>
            <a:ext cx="167951" cy="167951"/>
          </a:xfrm>
          <a:prstGeom prst="flowChartConnec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87B4C768-8046-0B88-DAFA-8DC79AB0CAF1}"/>
              </a:ext>
            </a:extLst>
          </p:cNvPr>
          <p:cNvSpPr/>
          <p:nvPr/>
        </p:nvSpPr>
        <p:spPr>
          <a:xfrm>
            <a:off x="7290318" y="4758612"/>
            <a:ext cx="167951" cy="167951"/>
          </a:xfrm>
          <a:prstGeom prst="flowChartConnec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0CF2FF51-DB1F-B553-D69C-E6D2A24FA6F0}"/>
              </a:ext>
            </a:extLst>
          </p:cNvPr>
          <p:cNvSpPr/>
          <p:nvPr/>
        </p:nvSpPr>
        <p:spPr>
          <a:xfrm>
            <a:off x="7691535" y="4259424"/>
            <a:ext cx="167951" cy="167951"/>
          </a:xfrm>
          <a:prstGeom prst="flowChartConnec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6C0CCC5D-54A8-8461-6489-61085E226710}"/>
              </a:ext>
            </a:extLst>
          </p:cNvPr>
          <p:cNvSpPr/>
          <p:nvPr/>
        </p:nvSpPr>
        <p:spPr>
          <a:xfrm>
            <a:off x="8661919" y="3508308"/>
            <a:ext cx="167951" cy="167951"/>
          </a:xfrm>
          <a:prstGeom prst="flowChartConnec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6B58F3C1-7D46-401F-B367-9DA6C9B11E41}"/>
              </a:ext>
            </a:extLst>
          </p:cNvPr>
          <p:cNvSpPr/>
          <p:nvPr/>
        </p:nvSpPr>
        <p:spPr>
          <a:xfrm>
            <a:off x="8829870" y="3069770"/>
            <a:ext cx="167951" cy="167951"/>
          </a:xfrm>
          <a:prstGeom prst="flowChartConnec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8302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33B17-9355-1296-FF71-A5B2E198D4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Disclaimer: </a:t>
            </a:r>
            <a:br>
              <a:rPr lang="en-GB" dirty="0"/>
            </a:br>
            <a:r>
              <a:rPr lang="en-GB" dirty="0"/>
              <a:t>2dsphere Index </a:t>
            </a:r>
            <a:br>
              <a:rPr lang="en-GB" dirty="0"/>
            </a:br>
            <a:r>
              <a:rPr lang="en-GB" dirty="0"/>
              <a:t>vs </a:t>
            </a:r>
            <a:br>
              <a:rPr lang="en-GB" dirty="0"/>
            </a:br>
            <a:r>
              <a:rPr lang="en-GB" dirty="0"/>
              <a:t>2d Index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9B4C3-1465-C5CC-B938-188003BFF5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 err="1"/>
              <a:t>GeoJSON</a:t>
            </a:r>
            <a:r>
              <a:rPr lang="en-GB" dirty="0"/>
              <a:t> is supported ONLY by 2dsphpere Index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Legacy coordinates (2d) is supported 2d Index. Only points from 2d are supported in 2dsphere.</a:t>
            </a:r>
          </a:p>
        </p:txBody>
      </p:sp>
    </p:spTree>
    <p:extLst>
      <p:ext uri="{BB962C8B-B14F-4D97-AF65-F5344CB8AC3E}">
        <p14:creationId xmlns:p14="http://schemas.microsoft.com/office/powerpoint/2010/main" val="1220849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33B17-9355-1296-FF71-A5B2E198D4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Let’s do the Lab!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9B4C3-1465-C5CC-B938-188003BFF5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2540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</TotalTime>
  <Words>1023</Words>
  <Application>Microsoft Office PowerPoint</Application>
  <PresentationFormat>Widescreen</PresentationFormat>
  <Paragraphs>187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Consolas</vt:lpstr>
      <vt:lpstr>IBM Plex Mono</vt:lpstr>
      <vt:lpstr>Office Theme</vt:lpstr>
      <vt:lpstr>Geolocation with MongoDB</vt:lpstr>
      <vt:lpstr>What Geolocation (Geospatial queries) gives us?</vt:lpstr>
      <vt:lpstr>How MongoDB makes it possible?</vt:lpstr>
      <vt:lpstr>Location data</vt:lpstr>
      <vt:lpstr>GeoJSON - Types</vt:lpstr>
      <vt:lpstr>GeoJSON Type - Point</vt:lpstr>
      <vt:lpstr>GeoJSON Type - LineString</vt:lpstr>
      <vt:lpstr>GeoJSON Type - Polygon</vt:lpstr>
      <vt:lpstr>GeoJSON – Coordinates format</vt:lpstr>
      <vt:lpstr>Index – 2dsphere</vt:lpstr>
      <vt:lpstr>Let’s go with the sample Queries!</vt:lpstr>
      <vt:lpstr>Find places near a Point ($near)</vt:lpstr>
      <vt:lpstr>Filtering places by Distance within a circle by using $geoWithin</vt:lpstr>
      <vt:lpstr>Quick Detour: $centerSphere operator</vt:lpstr>
      <vt:lpstr>$centerShpere operator</vt:lpstr>
      <vt:lpstr>$centerShpere = circle on a sphere</vt:lpstr>
      <vt:lpstr>Filtering places by Distance within a circle by using $geoWithin</vt:lpstr>
      <vt:lpstr>Filtering places within a irregular shape (Polygon) by using $geoWithin</vt:lpstr>
      <vt:lpstr>Finding places which Intersect with other Places ($geoIntersects)</vt:lpstr>
      <vt:lpstr>$geoIntersects vs $geoWithin</vt:lpstr>
      <vt:lpstr>Disclaimer:  2dsphere Index  vs  2d Index</vt:lpstr>
      <vt:lpstr>Let’s do the Lab!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borislav</dc:creator>
  <cp:lastModifiedBy>borislav</cp:lastModifiedBy>
  <cp:revision>7</cp:revision>
  <dcterms:created xsi:type="dcterms:W3CDTF">2026-03-30T08:37:11Z</dcterms:created>
  <dcterms:modified xsi:type="dcterms:W3CDTF">2026-03-31T08:25:26Z</dcterms:modified>
</cp:coreProperties>
</file>