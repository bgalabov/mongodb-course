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257" r:id="rId3"/>
    <p:sldId id="347" r:id="rId4"/>
    <p:sldId id="349" r:id="rId5"/>
    <p:sldId id="350" r:id="rId6"/>
    <p:sldId id="351" r:id="rId7"/>
    <p:sldId id="352" r:id="rId8"/>
    <p:sldId id="353" r:id="rId9"/>
    <p:sldId id="355" r:id="rId10"/>
    <p:sldId id="354" r:id="rId11"/>
    <p:sldId id="356" r:id="rId12"/>
    <p:sldId id="357" r:id="rId13"/>
    <p:sldId id="358" r:id="rId14"/>
    <p:sldId id="3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AD2C-456A-8F21-8D47-AB8C2A1AF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ACA21-BF82-1B94-01E5-9CDC639B4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3BA1D-1327-C901-170F-7504CCE4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B02D3-02C7-3800-E7FF-6704F60C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97C72-EAE5-A999-FC96-8D154E39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7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F67A-2B38-3342-6C15-BB5CA514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AC50A-3A00-8476-8C62-854D7EE9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A10F8-4A0A-85BB-6983-0B0B388E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B9C6E-E7A1-BDCE-C1D9-49EBA307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BDADD-9423-D2FB-0490-BF713F10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44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1FA4-D835-6698-7ADD-243057B80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563CC-A475-D92E-9FB1-0959C102A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222B6-D645-2BA2-0D38-0710F61A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FB48-983E-C5BF-5C08-20B99C90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17A38-B11F-944A-CEEA-E50458D5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06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F5CB-EC78-B123-9D7D-95A4D565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85390-20F2-10FF-5B8C-F05735437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180BB-7C62-68F9-FFF4-076A5F1E1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1E723-E748-5B64-A079-1CFEEF8C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37EEF-3FD4-3D65-5644-2A454081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4E3F8-C3A5-A462-E2E2-1A964AE1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604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AE7A-C6B5-C162-CC16-A7E675C65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CE5EA-50C2-F5CE-0F73-54EDF7A04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DA608-824C-DB2C-30EF-971F5A741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4A777-CF3F-6429-C608-D7893CA25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88B83-9456-BB39-CBEA-E07F6360E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C0934-6117-623F-E4BD-72CBCBF6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69300-29B2-7DB0-9896-4DE0AE32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E5FAB-551E-BE93-AF1D-659F4820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41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F88E-1644-70D3-3F04-90EB60F8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AFDF3-5BFC-9C9F-8083-DF0C8F99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E2E89-8A3E-200D-C3FF-3FDC3E7A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A0DE8-50ED-9D04-FAB7-46042D30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91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3CCA3-CEAC-DF24-5DA2-046F6CC6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97EF4-F34D-549F-B66E-571B338A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5B1CF-C6A7-EBC2-FB44-2CF70FD7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556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DA1C-2256-3FB7-0E97-2956C8FE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127A-B2FF-4FED-6FC9-DD1E34463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AD641-9F38-0320-A143-E89BBA535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A0181-3F04-B788-FA80-C4B3239C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C67BF-B2FF-6A4D-CC0F-D930CEE8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E6D7B-C8D3-2733-60BF-4310749A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6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4F5D-8ECD-C443-CABD-9A13079D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24406-BE68-16D6-AE57-DF09E9AA6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9AE63-BD74-BC70-7115-5E6707109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DC153-FC45-CF5F-4392-DC2D9573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D5FA-F4F2-C35A-8558-12CC31DE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E4698-E74A-4B23-354F-FCD6F45D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96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84A8-0063-67E7-2F28-82582616B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41BC7-8B5F-725A-53BF-52790CD41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2C877-B276-846F-8FDD-A3AD96DF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64468-C9DD-1B9F-0081-E6D5AFF7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0C3FD-5B0E-CEC4-7427-664F75A5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1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92EF9-0498-8D81-7310-5ADF7D5E2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8099E-6E4A-507F-0BD2-96F4C4BBC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E498E-0586-2410-F83A-8B29A2FE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C61E9-DC96-1C36-C35E-DBE84AEF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F19BC-C357-C859-3C67-F999B8FA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27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4A445-9A72-508E-7F06-0A466157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39C79-3AB8-8F54-AE54-EACA9632D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070D1-60EE-7D14-91F9-9EFBA7B2D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18785-C4B4-4228-92B0-44A958A1BEE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001F6-9850-D558-5360-70F1363AE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BF015-DDC2-E8F4-E3CD-18B7F703F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7A011-B1D7-4270-B166-4671E5E26D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42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Embeded</a:t>
            </a:r>
            <a:r>
              <a:rPr lang="en-GB" dirty="0"/>
              <a:t> vs Reference Model. Transactions.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+ Aggregation</a:t>
            </a:r>
          </a:p>
        </p:txBody>
      </p:sp>
    </p:spTree>
    <p:extLst>
      <p:ext uri="{BB962C8B-B14F-4D97-AF65-F5344CB8AC3E}">
        <p14:creationId xmlns:p14="http://schemas.microsoft.com/office/powerpoint/2010/main" val="336054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8D21-C21B-11D0-8C93-1EC41DC2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Embedded Model vs Reference Model</a:t>
            </a:r>
          </a:p>
        </p:txBody>
      </p:sp>
      <p:sp>
        <p:nvSpPr>
          <p:cNvPr id="6" name="AutoShape 2" descr="Data model with embedded fields that contain all related information.">
            <a:extLst>
              <a:ext uri="{FF2B5EF4-FFF2-40B4-BE49-F238E27FC236}">
                <a16:creationId xmlns:a16="http://schemas.microsoft.com/office/drawing/2014/main" id="{05947B9D-F9BF-3F5D-00D7-A49A55166A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198776" cy="419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AF63FD-7C9E-E7B9-BF13-DE498D3E9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" y="1398231"/>
            <a:ext cx="5905500" cy="33337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15C8530-F82B-A33E-E9BC-57574BA8B0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2811" y="3429000"/>
            <a:ext cx="5639189" cy="3429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8EB553-5872-353E-1482-3CA86E30AC60}"/>
              </a:ext>
            </a:extLst>
          </p:cNvPr>
          <p:cNvSpPr txBox="1"/>
          <p:nvPr/>
        </p:nvSpPr>
        <p:spPr>
          <a:xfrm>
            <a:off x="1142612" y="4824114"/>
            <a:ext cx="17815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Embedded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48E9F-7554-BECE-E19D-CC91004A15CA}"/>
              </a:ext>
            </a:extLst>
          </p:cNvPr>
          <p:cNvSpPr txBox="1"/>
          <p:nvPr/>
        </p:nvSpPr>
        <p:spPr>
          <a:xfrm>
            <a:off x="8481623" y="3014246"/>
            <a:ext cx="17815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Reference model</a:t>
            </a:r>
          </a:p>
        </p:txBody>
      </p:sp>
    </p:spTree>
    <p:extLst>
      <p:ext uri="{BB962C8B-B14F-4D97-AF65-F5344CB8AC3E}">
        <p14:creationId xmlns:p14="http://schemas.microsoft.com/office/powerpoint/2010/main" val="214631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9445-F6EC-4764-0DC5-801C353C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Embeded</a:t>
            </a:r>
            <a:r>
              <a:rPr lang="en-GB" dirty="0"/>
              <a:t>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78371-88F8-B3B6-3A8D-1741C56CA29C}"/>
              </a:ext>
            </a:extLst>
          </p:cNvPr>
          <p:cNvSpPr txBox="1"/>
          <p:nvPr/>
        </p:nvSpPr>
        <p:spPr>
          <a:xfrm>
            <a:off x="6391276" y="73243"/>
            <a:ext cx="588645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//Employee document</a:t>
            </a:r>
          </a:p>
          <a:p>
            <a:r>
              <a:rPr lang="en-GB" dirty="0">
                <a:latin typeface="Consolas" panose="020B0609020204030204" pitchFamily="49" charset="0"/>
              </a:rPr>
              <a:t>{</a:t>
            </a:r>
          </a:p>
          <a:p>
            <a:r>
              <a:rPr lang="en-GB" dirty="0">
                <a:latin typeface="Consolas" panose="020B0609020204030204" pitchFamily="49" charset="0"/>
              </a:rPr>
              <a:t>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"_id" 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 err="1">
                <a:latin typeface="Consolas" panose="020B0609020204030204" pitchFamily="49" charset="0"/>
              </a:rPr>
              <a:t>ObjectId</a:t>
            </a:r>
            <a:r>
              <a:rPr lang="en-GB" dirty="0">
                <a:latin typeface="Consolas" panose="020B0609020204030204" pitchFamily="49" charset="0"/>
              </a:rPr>
              <a:t>(...),</a:t>
            </a:r>
          </a:p>
          <a:p>
            <a:r>
              <a:rPr lang="en-GB" dirty="0">
                <a:latin typeface="Consolas" panose="020B0609020204030204" pitchFamily="49" charset="0"/>
              </a:rPr>
              <a:t>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"name" 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"John Smith"</a:t>
            </a:r>
            <a:r>
              <a:rPr lang="en-GB" dirty="0">
                <a:latin typeface="Consolas" panose="020B0609020204030204" pitchFamily="49" charset="0"/>
              </a:rPr>
              <a:t>, 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"department" 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"dev"</a:t>
            </a:r>
            <a:r>
              <a:rPr lang="en-GB" dirty="0">
                <a:latin typeface="Consolas" panose="020B0609020204030204" pitchFamily="49" charset="0"/>
              </a:rPr>
              <a:t>, </a:t>
            </a:r>
          </a:p>
          <a:p>
            <a:r>
              <a:rPr lang="en-GB" dirty="0">
                <a:latin typeface="Consolas" panose="020B0609020204030204" pitchFamily="49" charset="0"/>
              </a:rPr>
              <a:t>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"salary" 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4000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"addresses" </a:t>
            </a:r>
            <a:r>
              <a:rPr lang="en-GB" dirty="0">
                <a:latin typeface="Consolas" panose="020B0609020204030204" pitchFamily="49" charset="0"/>
              </a:rPr>
              <a:t>: [</a:t>
            </a:r>
          </a:p>
          <a:p>
            <a:r>
              <a:rPr lang="en-GB" dirty="0">
                <a:latin typeface="Consolas" panose="020B0609020204030204" pitchFamily="49" charset="0"/>
              </a:rPr>
              <a:t>    {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"type"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"office"</a:t>
            </a:r>
            <a:r>
              <a:rPr lang="en-GB" dirty="0">
                <a:latin typeface="Consolas" panose="020B0609020204030204" pitchFamily="49" charset="0"/>
              </a:rPr>
              <a:t>, 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"city"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"Sofia"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"street"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GB" dirty="0" err="1">
                <a:solidFill>
                  <a:schemeClr val="accent6"/>
                </a:solidFill>
                <a:latin typeface="Consolas" panose="020B0609020204030204" pitchFamily="49" charset="0"/>
              </a:rPr>
              <a:t>Tsarigradsko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chemeClr val="accent6"/>
                </a:solidFill>
                <a:latin typeface="Consolas" panose="020B0609020204030204" pitchFamily="49" charset="0"/>
              </a:rPr>
              <a:t>Shose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 47"</a:t>
            </a:r>
          </a:p>
          <a:p>
            <a:r>
              <a:rPr lang="en-GB" dirty="0">
                <a:latin typeface="Consolas" panose="020B0609020204030204" pitchFamily="49" charset="0"/>
              </a:rPr>
              <a:t>    }, </a:t>
            </a:r>
          </a:p>
          <a:p>
            <a:r>
              <a:rPr lang="en-GB" dirty="0">
                <a:latin typeface="Consolas" panose="020B0609020204030204" pitchFamily="49" charset="0"/>
              </a:rPr>
              <a:t>    {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"type"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"home"</a:t>
            </a:r>
            <a:r>
              <a:rPr lang="en-GB" dirty="0">
                <a:latin typeface="Consolas" panose="020B0609020204030204" pitchFamily="49" charset="0"/>
              </a:rPr>
              <a:t>, 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"city"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"Sofia"</a:t>
            </a:r>
            <a:r>
              <a:rPr lang="en-GB" dirty="0">
                <a:latin typeface="Consolas" panose="020B0609020204030204" pitchFamily="49" charset="0"/>
              </a:rPr>
              <a:t>, 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"street"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"Boulevard Bulgaria 61"</a:t>
            </a:r>
          </a:p>
          <a:p>
            <a:r>
              <a:rPr lang="en-GB" dirty="0">
                <a:latin typeface="Consolas" panose="020B0609020204030204" pitchFamily="49" charset="0"/>
              </a:rPr>
              <a:t>    }, </a:t>
            </a:r>
          </a:p>
          <a:p>
            <a:r>
              <a:rPr lang="en-GB" dirty="0">
                <a:latin typeface="Consolas" panose="020B0609020204030204" pitchFamily="49" charset="0"/>
              </a:rPr>
              <a:t>    {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"type"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"home"</a:t>
            </a:r>
            <a:r>
              <a:rPr lang="en-GB" dirty="0">
                <a:latin typeface="Consolas" panose="020B0609020204030204" pitchFamily="49" charset="0"/>
              </a:rPr>
              <a:t>, 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"city"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"Plovdiv"</a:t>
            </a:r>
            <a:r>
              <a:rPr lang="en-GB" dirty="0">
                <a:latin typeface="Consolas" panose="020B0609020204030204" pitchFamily="49" charset="0"/>
              </a:rPr>
              <a:t>, 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"street"</a:t>
            </a:r>
            <a:r>
              <a:rPr lang="en-GB" dirty="0">
                <a:latin typeface="Consolas" panose="020B0609020204030204" pitchFamily="49" charset="0"/>
              </a:rPr>
              <a:t> 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GB" dirty="0" err="1">
                <a:solidFill>
                  <a:schemeClr val="accent6"/>
                </a:solidFill>
                <a:latin typeface="Consolas" panose="020B0609020204030204" pitchFamily="49" charset="0"/>
              </a:rPr>
              <a:t>Hristo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 Botev 2"</a:t>
            </a:r>
          </a:p>
          <a:p>
            <a:r>
              <a:rPr lang="en-GB" dirty="0">
                <a:latin typeface="Consolas" panose="020B0609020204030204" pitchFamily="49" charset="0"/>
              </a:rPr>
              <a:t>    }</a:t>
            </a:r>
          </a:p>
          <a:p>
            <a:r>
              <a:rPr lang="en-GB" dirty="0">
                <a:latin typeface="Consolas" panose="020B0609020204030204" pitchFamily="49" charset="0"/>
              </a:rPr>
              <a:t>  ]</a:t>
            </a:r>
          </a:p>
          <a:p>
            <a:r>
              <a:rPr lang="en-GB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C89A5B-4D2D-CB21-A1BF-AAD16EB07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2526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Data is always read together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Data has the same lifecycle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14659"/>
                </a:solidFill>
              </a:rPr>
              <a:t>Fits well for 1:1 and 1:M</a:t>
            </a:r>
            <a:endParaRPr lang="en-GB" sz="2800" b="0" i="0" dirty="0">
              <a:solidFill>
                <a:srgbClr val="314659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The array size is limited (not growing indefinitely), max doc. </a:t>
            </a:r>
            <a:r>
              <a:rPr lang="en-GB" dirty="0">
                <a:solidFill>
                  <a:srgbClr val="314659"/>
                </a:solidFill>
              </a:rPr>
              <a:t>size = 16 MB</a:t>
            </a:r>
            <a:endParaRPr lang="en-GB" sz="2800" b="0" i="0" dirty="0">
              <a:solidFill>
                <a:srgbClr val="314659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You need fast reads</a:t>
            </a:r>
          </a:p>
          <a:p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232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9445-F6EC-4764-0DC5-801C353C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Embeded</a:t>
            </a:r>
            <a:r>
              <a:rPr lang="en-GB" dirty="0"/>
              <a:t>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78371-88F8-B3B6-3A8D-1741C56CA29C}"/>
              </a:ext>
            </a:extLst>
          </p:cNvPr>
          <p:cNvSpPr txBox="1"/>
          <p:nvPr/>
        </p:nvSpPr>
        <p:spPr>
          <a:xfrm>
            <a:off x="6391275" y="394692"/>
            <a:ext cx="588645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//Orders collection</a:t>
            </a:r>
          </a:p>
          <a:p>
            <a:r>
              <a:rPr lang="en-GB" dirty="0">
                <a:latin typeface="Consolas" panose="020B0609020204030204" pitchFamily="49" charset="0"/>
              </a:rPr>
              <a:t>[</a:t>
            </a:r>
          </a:p>
          <a:p>
            <a:r>
              <a:rPr lang="en-GB" dirty="0">
                <a:latin typeface="Consolas" panose="020B0609020204030204" pitchFamily="49" charset="0"/>
              </a:rPr>
              <a:t>  {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"_id"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"ORD_001"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dirty="0" err="1">
                <a:solidFill>
                  <a:schemeClr val="accent2"/>
                </a:solidFill>
                <a:latin typeface="Consolas" panose="020B0609020204030204" pitchFamily="49" charset="0"/>
              </a:rPr>
              <a:t>customer_name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"Ivan Ivanov"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"address"</a:t>
            </a:r>
            <a:r>
              <a:rPr lang="en-GB" dirty="0">
                <a:latin typeface="Consolas" panose="020B0609020204030204" pitchFamily="49" charset="0"/>
              </a:rPr>
              <a:t>: {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"city"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"Sofia"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"street"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GB" dirty="0" err="1">
                <a:solidFill>
                  <a:schemeClr val="accent6"/>
                </a:solidFill>
                <a:latin typeface="Consolas" panose="020B0609020204030204" pitchFamily="49" charset="0"/>
              </a:rPr>
              <a:t>Kliment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chemeClr val="accent6"/>
                </a:solidFill>
                <a:latin typeface="Consolas" panose="020B0609020204030204" pitchFamily="49" charset="0"/>
              </a:rPr>
              <a:t>Ohridski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 8"</a:t>
            </a:r>
          </a:p>
          <a:p>
            <a:r>
              <a:rPr lang="en-GB" dirty="0">
                <a:latin typeface="Consolas" panose="020B0609020204030204" pitchFamily="49" charset="0"/>
              </a:rPr>
              <a:t>    },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"products"</a:t>
            </a:r>
            <a:r>
              <a:rPr lang="en-GB" dirty="0">
                <a:latin typeface="Consolas" panose="020B0609020204030204" pitchFamily="49" charset="0"/>
              </a:rPr>
              <a:t>: [</a:t>
            </a:r>
          </a:p>
          <a:p>
            <a:r>
              <a:rPr lang="en-GB" dirty="0">
                <a:latin typeface="Consolas" panose="020B0609020204030204" pitchFamily="49" charset="0"/>
              </a:rPr>
              <a:t>      {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"name"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"Lenovo </a:t>
            </a:r>
            <a:r>
              <a:rPr lang="en-GB" dirty="0" err="1">
                <a:solidFill>
                  <a:schemeClr val="accent6"/>
                </a:solidFill>
                <a:latin typeface="Consolas" panose="020B0609020204030204" pitchFamily="49" charset="0"/>
              </a:rPr>
              <a:t>Thinkpad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 T15 Gen4"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"price"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1500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"qty"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GB" dirty="0">
                <a:latin typeface="Consolas" panose="020B0609020204030204" pitchFamily="49" charset="0"/>
              </a:rPr>
              <a:t>      },</a:t>
            </a:r>
          </a:p>
          <a:p>
            <a:r>
              <a:rPr lang="en-GB" dirty="0">
                <a:latin typeface="Consolas" panose="020B0609020204030204" pitchFamily="49" charset="0"/>
              </a:rPr>
              <a:t>      {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"name"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"Samsung Galaxy S25 FE"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"price"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600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"qty"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GB" dirty="0">
                <a:latin typeface="Consolas" panose="020B0609020204030204" pitchFamily="49" charset="0"/>
              </a:rPr>
              <a:t>      }</a:t>
            </a:r>
          </a:p>
          <a:p>
            <a:r>
              <a:rPr lang="en-GB" dirty="0">
                <a:latin typeface="Consolas" panose="020B0609020204030204" pitchFamily="49" charset="0"/>
              </a:rPr>
              <a:t>    ]</a:t>
            </a:r>
          </a:p>
          <a:p>
            <a:r>
              <a:rPr lang="en-GB" dirty="0">
                <a:latin typeface="Consolas" panose="020B0609020204030204" pitchFamily="49" charset="0"/>
              </a:rPr>
              <a:t>  }…</a:t>
            </a:r>
          </a:p>
          <a:p>
            <a:r>
              <a:rPr lang="en-GB" dirty="0">
                <a:latin typeface="Consolas" panose="020B0609020204030204" pitchFamily="49" charset="0"/>
              </a:rPr>
              <a:t>]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C89A5B-4D2D-CB21-A1BF-AAD16EB07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2526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Data is always read together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Data has the same lifecycle</a:t>
            </a:r>
          </a:p>
          <a:p>
            <a:r>
              <a:rPr lang="en-GB" dirty="0">
                <a:solidFill>
                  <a:srgbClr val="314659"/>
                </a:solidFill>
              </a:rPr>
              <a:t>Fits well for 1:1 and 1:M</a:t>
            </a:r>
            <a:endParaRPr lang="en-GB" sz="2800" b="0" i="0" dirty="0">
              <a:solidFill>
                <a:srgbClr val="314659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The array size is limited (not growing indefinitely), max doc. </a:t>
            </a:r>
            <a:r>
              <a:rPr lang="en-GB" dirty="0">
                <a:solidFill>
                  <a:srgbClr val="314659"/>
                </a:solidFill>
              </a:rPr>
              <a:t>size = 16 MB</a:t>
            </a:r>
            <a:endParaRPr lang="en-GB" sz="2800" b="0" i="0" dirty="0">
              <a:solidFill>
                <a:srgbClr val="314659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314659"/>
                </a:solidFill>
                <a:effectLst/>
              </a:rPr>
              <a:t>You need fast reads</a:t>
            </a:r>
          </a:p>
          <a:p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9085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9445-F6EC-4764-0DC5-801C353C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78371-88F8-B3B6-3A8D-1741C56CA29C}"/>
              </a:ext>
            </a:extLst>
          </p:cNvPr>
          <p:cNvSpPr txBox="1"/>
          <p:nvPr/>
        </p:nvSpPr>
        <p:spPr>
          <a:xfrm>
            <a:off x="5924550" y="365125"/>
            <a:ext cx="58864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Consolas" panose="020B0609020204030204" pitchFamily="49" charset="0"/>
              </a:rPr>
              <a:t>//Social Network Post Document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"_id"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 err="1">
                <a:latin typeface="Consolas" panose="020B0609020204030204" pitchFamily="49" charset="0"/>
              </a:rPr>
              <a:t>ObjectId</a:t>
            </a:r>
            <a:r>
              <a:rPr lang="en-GB" sz="1400" dirty="0">
                <a:latin typeface="Consolas" panose="020B0609020204030204" pitchFamily="49" charset="0"/>
              </a:rPr>
              <a:t>(...),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user_id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user_id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latin typeface="Consolas" panose="020B0609020204030204" pitchFamily="49" charset="0"/>
              </a:rPr>
              <a:t>,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post_text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"What is your favourite NoSQL DB?"</a:t>
            </a:r>
            <a:r>
              <a:rPr lang="en-GB" sz="1400" dirty="0">
                <a:latin typeface="Consolas" panose="020B0609020204030204" pitchFamily="49" charset="0"/>
              </a:rPr>
              <a:t>, 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"comments"</a:t>
            </a:r>
            <a:r>
              <a:rPr lang="en-GB" sz="1400" dirty="0">
                <a:latin typeface="Consolas" panose="020B0609020204030204" pitchFamily="49" charset="0"/>
              </a:rPr>
              <a:t> : [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{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user_id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 err="1">
                <a:latin typeface="Consolas" panose="020B0609020204030204" pitchFamily="49" charset="0"/>
              </a:rPr>
              <a:t>ObjectId</a:t>
            </a:r>
            <a:r>
              <a:rPr lang="en-GB" sz="1400" dirty="0">
                <a:latin typeface="Consolas" panose="020B0609020204030204" pitchFamily="49" charset="0"/>
              </a:rPr>
              <a:t>("69dbfb96c2f9d8e3922a5f08"), 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"text"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"It depends on the use case."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}, 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{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user_id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 err="1">
                <a:latin typeface="Consolas" panose="020B0609020204030204" pitchFamily="49" charset="0"/>
              </a:rPr>
              <a:t>ObjectId</a:t>
            </a:r>
            <a:r>
              <a:rPr lang="en-GB" sz="1400" dirty="0">
                <a:latin typeface="Consolas" panose="020B0609020204030204" pitchFamily="49" charset="0"/>
              </a:rPr>
              <a:t>("69dbfb96c2f9d8e3922a5f09"), 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"text"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"I enjoy the flexibility of MongoDB."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]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C89A5B-4D2D-CB21-A1BF-AAD16EB07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2526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14659"/>
                </a:solidFill>
                <a:effectLst/>
              </a:rPr>
              <a:t>Data changes frequently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14659"/>
                </a:solidFill>
                <a:effectLst/>
              </a:rPr>
              <a:t>Data is shared across multiple documents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14659"/>
                </a:solidFill>
                <a:effectLst/>
              </a:rPr>
              <a:t>You have many-to-many relationships (M:N)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14659"/>
                </a:solidFill>
                <a:effectLst/>
              </a:rPr>
              <a:t>The embedded array can grow large (unbounded)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FE572-C622-BE22-FDB4-E75500000CC3}"/>
              </a:ext>
            </a:extLst>
          </p:cNvPr>
          <p:cNvSpPr txBox="1"/>
          <p:nvPr/>
        </p:nvSpPr>
        <p:spPr>
          <a:xfrm>
            <a:off x="5924550" y="4246106"/>
            <a:ext cx="588645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Consolas" panose="020B0609020204030204" pitchFamily="49" charset="0"/>
              </a:rPr>
              <a:t>//Users Collection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[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{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"_id"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 err="1">
                <a:latin typeface="Consolas" panose="020B0609020204030204" pitchFamily="49" charset="0"/>
              </a:rPr>
              <a:t>ObjectId</a:t>
            </a:r>
            <a:r>
              <a:rPr lang="en-GB" sz="1400" dirty="0">
                <a:latin typeface="Consolas" panose="020B0609020204030204" pitchFamily="49" charset="0"/>
              </a:rPr>
              <a:t>("69dbfb96c2f9d8e3922a5f08"),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"name"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"Ivan Petrov"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}, 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{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"_id"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 err="1">
                <a:latin typeface="Consolas" panose="020B0609020204030204" pitchFamily="49" charset="0"/>
              </a:rPr>
              <a:t>ObjectId</a:t>
            </a:r>
            <a:r>
              <a:rPr lang="en-GB" sz="1400" dirty="0">
                <a:latin typeface="Consolas" panose="020B0609020204030204" pitchFamily="49" charset="0"/>
              </a:rPr>
              <a:t>("69dbfb96c2f9d8e3922a5f09"),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"name"</a:t>
            </a:r>
            <a:r>
              <a:rPr lang="en-GB" sz="1400" dirty="0">
                <a:latin typeface="Consolas" panose="020B0609020204030204" pitchFamily="49" charset="0"/>
              </a:rPr>
              <a:t> 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"Dimitar Ivanov"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  }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2943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2949-88B1-AC84-D462-A74FE959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9675"/>
            <a:ext cx="10515600" cy="1325563"/>
          </a:xfrm>
        </p:spPr>
        <p:txBody>
          <a:bodyPr/>
          <a:lstStyle/>
          <a:p>
            <a:r>
              <a:rPr lang="en-GB" dirty="0"/>
              <a:t>How can we display together the Post Comments with their author’s name?</a:t>
            </a:r>
          </a:p>
        </p:txBody>
      </p:sp>
    </p:spTree>
    <p:extLst>
      <p:ext uri="{BB962C8B-B14F-4D97-AF65-F5344CB8AC3E}">
        <p14:creationId xmlns:p14="http://schemas.microsoft.com/office/powerpoint/2010/main" val="96201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1882-085D-EA66-9ADB-263194BD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$lookup = SQL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9831D-A68E-969F-0F3F-6A2E3C3DD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use it as Aggregation Stage</a:t>
            </a:r>
          </a:p>
          <a:p>
            <a:r>
              <a:rPr lang="en-GB" dirty="0"/>
              <a:t>Expensive operation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96B4C2-DDE9-72D0-1D3A-F20F51B9A88C}"/>
              </a:ext>
            </a:extLst>
          </p:cNvPr>
          <p:cNvSpPr txBox="1">
            <a:spLocks/>
          </p:cNvSpPr>
          <p:nvPr/>
        </p:nvSpPr>
        <p:spPr>
          <a:xfrm>
            <a:off x="990600" y="291147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$lookup</a:t>
            </a:r>
            <a:r>
              <a:rPr lang="en-GB"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from</a:t>
            </a:r>
            <a:r>
              <a:rPr lang="en-GB" sz="1600" dirty="0">
                <a:latin typeface="Consolas" panose="020B0609020204030204" pitchFamily="49" charset="0"/>
              </a:rPr>
              <a:t>: &lt;collection to join&gt;,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  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localField</a:t>
            </a:r>
            <a:r>
              <a:rPr lang="en-GB" sz="1600" dirty="0">
                <a:latin typeface="Consolas" panose="020B0609020204030204" pitchFamily="49" charset="0"/>
              </a:rPr>
              <a:t>: &lt;field from the input documents&gt;,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  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foreignField</a:t>
            </a:r>
            <a:r>
              <a:rPr lang="en-GB" sz="1600" dirty="0">
                <a:latin typeface="Consolas" panose="020B0609020204030204" pitchFamily="49" charset="0"/>
              </a:rPr>
              <a:t>: &lt;field from the documents of the "from" collection&gt;,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as</a:t>
            </a:r>
            <a:r>
              <a:rPr lang="en-GB" sz="1600" dirty="0">
                <a:latin typeface="Consolas" panose="020B0609020204030204" pitchFamily="49" charset="0"/>
              </a:rPr>
              <a:t>: &lt;output array field&gt;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71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F2C9-3B1D-87E3-37E5-1166DFD2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55526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F2C9-3B1D-87E3-37E5-1166DFD2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31551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B09A-9FD1-A959-7CA9-3D5FF2C6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Transactions – ACID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F50B-DC61-5A9C-E990-F721866A9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Atomicity</a:t>
            </a:r>
            <a:r>
              <a:rPr lang="en-GB" b="0" i="0" dirty="0">
                <a:effectLst/>
              </a:rPr>
              <a:t> - Transactions are all-or-nothing; if one operation fails, the entire transaction rolls back.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Consistency</a:t>
            </a:r>
            <a:r>
              <a:rPr lang="en-GB" b="0" i="0" dirty="0">
                <a:effectLst/>
              </a:rPr>
              <a:t> - Ensures the database moves from one valid state to another, maintaining data integrity.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Isolation</a:t>
            </a:r>
            <a:r>
              <a:rPr lang="en-GB" b="0" i="0" dirty="0">
                <a:effectLst/>
              </a:rPr>
              <a:t> - Concurrent transactions do not interfere with each other, providing snapshot isolation.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</a:rPr>
              <a:t>Durability</a:t>
            </a:r>
            <a:r>
              <a:rPr lang="en-GB" b="0" i="0" dirty="0">
                <a:effectLst/>
              </a:rPr>
              <a:t> - Completed transactions are recorded in the transaction log and persisted, even during a system failure.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8769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2945-248C-6E9A-06D3-04461A7A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Transactions in MongoDB?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23EBC-6387-8DAE-A03F-689E54221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You have operations over multiple documents/collections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You have financial operations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You have strong consistency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You cannot embed the data together, in a single document, hence you cannot avoid the use of transactions</a:t>
            </a:r>
          </a:p>
        </p:txBody>
      </p:sp>
    </p:spTree>
    <p:extLst>
      <p:ext uri="{BB962C8B-B14F-4D97-AF65-F5344CB8AC3E}">
        <p14:creationId xmlns:p14="http://schemas.microsoft.com/office/powerpoint/2010/main" val="220285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E8D5-D2B0-6E56-5D43-2F0AA9F8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52FB-C94A-4A03-A873-25B6D712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var</a:t>
            </a:r>
            <a:r>
              <a:rPr lang="en-GB" sz="1400" dirty="0">
                <a:latin typeface="Consolas" panose="020B0609020204030204" pitchFamily="49" charset="0"/>
              </a:rPr>
              <a:t> session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=</a:t>
            </a:r>
            <a:r>
              <a:rPr lang="en-GB" sz="1400" dirty="0"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db</a:t>
            </a:r>
            <a:r>
              <a:rPr lang="en-GB" sz="1400" dirty="0" err="1">
                <a:latin typeface="Consolas" panose="020B0609020204030204" pitchFamily="49" charset="0"/>
              </a:rPr>
              <a:t>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getMongo</a:t>
            </a:r>
            <a:r>
              <a:rPr lang="en-GB" sz="1400" dirty="0">
                <a:latin typeface="Consolas" panose="020B0609020204030204" pitchFamily="49" charset="0"/>
              </a:rPr>
              <a:t>().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startSession</a:t>
            </a:r>
            <a:r>
              <a:rPr lang="en-GB" sz="1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1400" dirty="0" err="1">
                <a:latin typeface="Consolas" panose="020B0609020204030204" pitchFamily="49" charset="0"/>
              </a:rPr>
              <a:t>session.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startTransaction</a:t>
            </a:r>
            <a:r>
              <a:rPr lang="en-GB" sz="1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var</a:t>
            </a:r>
            <a:r>
              <a:rPr lang="en-GB" sz="1400" dirty="0">
                <a:latin typeface="Consolas" panose="020B0609020204030204" pitchFamily="49" charset="0"/>
              </a:rPr>
              <a:t> accounts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=</a:t>
            </a:r>
            <a:r>
              <a:rPr lang="en-GB" sz="1400" dirty="0">
                <a:latin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</a:rPr>
              <a:t>session.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getDatabase</a:t>
            </a:r>
            <a:r>
              <a:rPr lang="en-GB" sz="1400" dirty="0"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"bank"</a:t>
            </a:r>
            <a:r>
              <a:rPr lang="en-GB" sz="1400" dirty="0">
                <a:latin typeface="Consolas" panose="020B0609020204030204" pitchFamily="49" charset="0"/>
              </a:rPr>
              <a:t>).accounts;</a:t>
            </a:r>
          </a:p>
          <a:p>
            <a:pPr marL="0" indent="0">
              <a:buNone/>
            </a:pPr>
            <a:endParaRPr lang="en-GB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try</a:t>
            </a:r>
            <a:r>
              <a:rPr lang="en-GB" sz="1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accounts</a:t>
            </a:r>
            <a:r>
              <a:rPr lang="en-GB" sz="1400" dirty="0" err="1">
                <a:latin typeface="Consolas" panose="020B0609020204030204" pitchFamily="49" charset="0"/>
              </a:rPr>
              <a:t>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updateOne</a:t>
            </a:r>
            <a:r>
              <a:rPr lang="en-GB" sz="1400" dirty="0">
                <a:latin typeface="Consolas" panose="020B0609020204030204" pitchFamily="49" charset="0"/>
              </a:rPr>
              <a:t>( { username: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"borislav"</a:t>
            </a:r>
            <a:r>
              <a:rPr lang="en-GB" sz="1400" dirty="0">
                <a:latin typeface="Consolas" panose="020B0609020204030204" pitchFamily="49" charset="0"/>
              </a:rPr>
              <a:t> }, { $</a:t>
            </a:r>
            <a:r>
              <a:rPr lang="en-GB" sz="1400" dirty="0" err="1">
                <a:latin typeface="Consolas" panose="020B0609020204030204" pitchFamily="49" charset="0"/>
              </a:rPr>
              <a:t>inc</a:t>
            </a:r>
            <a:r>
              <a:rPr lang="en-GB" sz="1400" dirty="0">
                <a:latin typeface="Consolas" panose="020B0609020204030204" pitchFamily="49" charset="0"/>
              </a:rPr>
              <a:t>: { balance: </a:t>
            </a:r>
            <a:r>
              <a:rPr lang="en-GB" sz="1400" dirty="0">
                <a:solidFill>
                  <a:schemeClr val="accent1"/>
                </a:solidFill>
                <a:latin typeface="Consolas" panose="020B0609020204030204" pitchFamily="49" charset="0"/>
              </a:rPr>
              <a:t>-100</a:t>
            </a:r>
            <a:r>
              <a:rPr lang="en-GB" sz="1400" dirty="0">
                <a:latin typeface="Consolas" panose="020B0609020204030204" pitchFamily="49" charset="0"/>
              </a:rPr>
              <a:t> } } );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accounts</a:t>
            </a:r>
            <a:r>
              <a:rPr lang="en-GB" sz="1400" dirty="0" err="1">
                <a:latin typeface="Consolas" panose="020B0609020204030204" pitchFamily="49" charset="0"/>
              </a:rPr>
              <a:t>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updateOne</a:t>
            </a:r>
            <a:r>
              <a:rPr lang="en-GB" sz="1400" dirty="0">
                <a:latin typeface="Consolas" panose="020B0609020204030204" pitchFamily="49" charset="0"/>
              </a:rPr>
              <a:t>( { username: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ivan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latin typeface="Consolas" panose="020B0609020204030204" pitchFamily="49" charset="0"/>
              </a:rPr>
              <a:t> }, { $</a:t>
            </a:r>
            <a:r>
              <a:rPr lang="en-GB" sz="1400" dirty="0" err="1">
                <a:latin typeface="Consolas" panose="020B0609020204030204" pitchFamily="49" charset="0"/>
              </a:rPr>
              <a:t>inc</a:t>
            </a:r>
            <a:r>
              <a:rPr lang="en-GB" sz="1400" dirty="0">
                <a:latin typeface="Consolas" panose="020B0609020204030204" pitchFamily="49" charset="0"/>
              </a:rPr>
              <a:t>: { balance: </a:t>
            </a:r>
            <a:r>
              <a:rPr lang="en-GB" sz="1400" dirty="0">
                <a:solidFill>
                  <a:schemeClr val="accent1"/>
                </a:solidFill>
                <a:latin typeface="Consolas" panose="020B0609020204030204" pitchFamily="49" charset="0"/>
              </a:rPr>
              <a:t>100</a:t>
            </a:r>
            <a:r>
              <a:rPr lang="en-GB" sz="1400" dirty="0">
                <a:latin typeface="Consolas" panose="020B0609020204030204" pitchFamily="49" charset="0"/>
              </a:rPr>
              <a:t> } } );</a:t>
            </a:r>
          </a:p>
          <a:p>
            <a:pPr marL="0" indent="0">
              <a:buNone/>
            </a:pPr>
            <a:endParaRPr lang="en-GB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session</a:t>
            </a:r>
            <a:r>
              <a:rPr lang="en-GB" sz="1400" dirty="0" err="1">
                <a:latin typeface="Consolas" panose="020B0609020204030204" pitchFamily="49" charset="0"/>
              </a:rPr>
              <a:t>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commitTransaction</a:t>
            </a:r>
            <a:r>
              <a:rPr lang="en-GB" sz="1400" dirty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r>
              <a:rPr lang="en-GB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}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catch</a:t>
            </a:r>
            <a:r>
              <a:rPr lang="en-GB" sz="1400" dirty="0">
                <a:latin typeface="Consolas" panose="020B0609020204030204" pitchFamily="49" charset="0"/>
              </a:rPr>
              <a:t> (error) {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	</a:t>
            </a:r>
            <a:r>
              <a:rPr lang="en-GB" sz="1400" dirty="0">
                <a:solidFill>
                  <a:schemeClr val="accent5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"An error </a:t>
            </a:r>
            <a:r>
              <a:rPr lang="en-GB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occured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: "</a:t>
            </a:r>
            <a:r>
              <a:rPr lang="en-GB" sz="1400" dirty="0"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+</a:t>
            </a:r>
            <a:r>
              <a:rPr lang="en-GB" sz="1400" dirty="0">
                <a:latin typeface="Consolas" panose="020B0609020204030204" pitchFamily="49" charset="0"/>
              </a:rPr>
              <a:t> error);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session</a:t>
            </a:r>
            <a:r>
              <a:rPr lang="en-GB" sz="1400" dirty="0" err="1">
                <a:latin typeface="Consolas" panose="020B0609020204030204" pitchFamily="49" charset="0"/>
              </a:rPr>
              <a:t>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abortTransaction</a:t>
            </a:r>
            <a:r>
              <a:rPr lang="en-GB" sz="1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}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finally</a:t>
            </a:r>
            <a:r>
              <a:rPr lang="en-GB" sz="1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session</a:t>
            </a:r>
            <a:r>
              <a:rPr lang="en-GB" sz="1400" dirty="0" err="1">
                <a:latin typeface="Consolas" panose="020B0609020204030204" pitchFamily="49" charset="0"/>
              </a:rPr>
              <a:t>.</a:t>
            </a:r>
            <a:r>
              <a:rPr lang="en-GB" sz="1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endSession</a:t>
            </a:r>
            <a:r>
              <a:rPr lang="en-GB" sz="1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GB" sz="1400" dirty="0">
              <a:latin typeface="Consolas" panose="020B0609020204030204" pitchFamily="49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0362946-9BCD-0A0B-FFFD-833572849EE3}"/>
              </a:ext>
            </a:extLst>
          </p:cNvPr>
          <p:cNvSpPr/>
          <p:nvPr/>
        </p:nvSpPr>
        <p:spPr>
          <a:xfrm>
            <a:off x="323850" y="1690688"/>
            <a:ext cx="285750" cy="285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576E34E-82B7-361F-02ED-9FCE5B3150FC}"/>
              </a:ext>
            </a:extLst>
          </p:cNvPr>
          <p:cNvSpPr/>
          <p:nvPr/>
        </p:nvSpPr>
        <p:spPr>
          <a:xfrm>
            <a:off x="323850" y="2081213"/>
            <a:ext cx="285750" cy="285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983EEB2-1884-B718-BC45-5E10F3A0B0C2}"/>
              </a:ext>
            </a:extLst>
          </p:cNvPr>
          <p:cNvSpPr/>
          <p:nvPr/>
        </p:nvSpPr>
        <p:spPr>
          <a:xfrm>
            <a:off x="5810250" y="2247901"/>
            <a:ext cx="285750" cy="285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0895B5E-D9BC-4E79-4D1B-875D356E7FFD}"/>
              </a:ext>
            </a:extLst>
          </p:cNvPr>
          <p:cNvSpPr/>
          <p:nvPr/>
        </p:nvSpPr>
        <p:spPr>
          <a:xfrm>
            <a:off x="323850" y="3400425"/>
            <a:ext cx="285750" cy="285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B07CD76-5F87-A47D-E6C5-C0833FB9FB08}"/>
              </a:ext>
            </a:extLst>
          </p:cNvPr>
          <p:cNvSpPr/>
          <p:nvPr/>
        </p:nvSpPr>
        <p:spPr>
          <a:xfrm>
            <a:off x="323850" y="3977482"/>
            <a:ext cx="285750" cy="285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7F41F5-00FD-AB49-BDF0-A8C2BC43E745}"/>
              </a:ext>
            </a:extLst>
          </p:cNvPr>
          <p:cNvSpPr txBox="1"/>
          <p:nvPr/>
        </p:nvSpPr>
        <p:spPr>
          <a:xfrm>
            <a:off x="6810375" y="4422637"/>
            <a:ext cx="5381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Establish Session</a:t>
            </a:r>
          </a:p>
          <a:p>
            <a:pPr marL="342900" indent="-342900">
              <a:buAutoNum type="arabicPeriod"/>
            </a:pPr>
            <a:r>
              <a:rPr lang="en-GB" dirty="0"/>
              <a:t>Start Transaction, from the particular Session</a:t>
            </a:r>
          </a:p>
          <a:p>
            <a:pPr marL="342900" indent="-342900">
              <a:buAutoNum type="arabicPeriod"/>
            </a:pPr>
            <a:r>
              <a:rPr lang="en-GB" b="1" dirty="0"/>
              <a:t>Get instance to DB and Collection FROM WITHIN Transaction</a:t>
            </a:r>
          </a:p>
          <a:p>
            <a:pPr marL="342900" indent="-342900">
              <a:buAutoNum type="arabicPeriod"/>
            </a:pPr>
            <a:r>
              <a:rPr lang="en-GB" dirty="0"/>
              <a:t>Perform CRUD operations</a:t>
            </a:r>
          </a:p>
          <a:p>
            <a:pPr marL="342900" indent="-342900">
              <a:buAutoNum type="arabicPeriod"/>
            </a:pPr>
            <a:r>
              <a:rPr lang="en-GB" dirty="0"/>
              <a:t>Commit Transaction</a:t>
            </a:r>
          </a:p>
          <a:p>
            <a:pPr marL="342900" indent="-342900">
              <a:buAutoNum type="arabicPeriod"/>
            </a:pPr>
            <a:r>
              <a:rPr lang="en-GB" dirty="0"/>
              <a:t>End Session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48BBFA0-6487-1A09-8FE5-60FB2919080D}"/>
              </a:ext>
            </a:extLst>
          </p:cNvPr>
          <p:cNvSpPr/>
          <p:nvPr/>
        </p:nvSpPr>
        <p:spPr>
          <a:xfrm>
            <a:off x="323850" y="5520532"/>
            <a:ext cx="285750" cy="28575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E8B181-8166-E2D7-CA0D-1630767837E2}"/>
              </a:ext>
            </a:extLst>
          </p:cNvPr>
          <p:cNvSpPr txBox="1"/>
          <p:nvPr/>
        </p:nvSpPr>
        <p:spPr>
          <a:xfrm>
            <a:off x="111967" y="6251510"/>
            <a:ext cx="644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Note! Transaction lifetime is 60 seconds by default!</a:t>
            </a:r>
          </a:p>
        </p:txBody>
      </p:sp>
    </p:spTree>
    <p:extLst>
      <p:ext uri="{BB962C8B-B14F-4D97-AF65-F5344CB8AC3E}">
        <p14:creationId xmlns:p14="http://schemas.microsoft.com/office/powerpoint/2010/main" val="72801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F2C9-3B1D-87E3-37E5-1166DFD2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94599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F2C9-3B1D-87E3-37E5-1166DFD2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Let’s do the Lab!</a:t>
            </a:r>
          </a:p>
        </p:txBody>
      </p:sp>
    </p:spTree>
    <p:extLst>
      <p:ext uri="{BB962C8B-B14F-4D97-AF65-F5344CB8AC3E}">
        <p14:creationId xmlns:p14="http://schemas.microsoft.com/office/powerpoint/2010/main" val="406175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878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Office Theme</vt:lpstr>
      <vt:lpstr>Embeded vs Reference Model. Transactions.</vt:lpstr>
      <vt:lpstr>Embedded Model vs Reference Model</vt:lpstr>
      <vt:lpstr>Embeded Model</vt:lpstr>
      <vt:lpstr>Embeded Model</vt:lpstr>
      <vt:lpstr>Reference Model</vt:lpstr>
      <vt:lpstr>How can we display together the Post Comments with their author’s name?</vt:lpstr>
      <vt:lpstr>$lookup = SQL JOIN</vt:lpstr>
      <vt:lpstr>Demo</vt:lpstr>
      <vt:lpstr>Transactions</vt:lpstr>
      <vt:lpstr>Transactions – ACID properties</vt:lpstr>
      <vt:lpstr>When to use Transactions in MongoDB?</vt:lpstr>
      <vt:lpstr>Sample Transaction</vt:lpstr>
      <vt:lpstr>Demo</vt:lpstr>
      <vt:lpstr>Let’s do the Lab!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borislav</dc:creator>
  <cp:lastModifiedBy>borislav</cp:lastModifiedBy>
  <cp:revision>6</cp:revision>
  <dcterms:created xsi:type="dcterms:W3CDTF">2026-04-14T09:32:28Z</dcterms:created>
  <dcterms:modified xsi:type="dcterms:W3CDTF">2026-04-15T10:41:04Z</dcterms:modified>
</cp:coreProperties>
</file>